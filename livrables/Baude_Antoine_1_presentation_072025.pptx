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73396" autoAdjust="0"/>
  </p:normalViewPr>
  <p:slideViewPr>
    <p:cSldViewPr snapToGrid="0">
      <p:cViewPr varScale="1">
        <p:scale>
          <a:sx n="68" d="100"/>
          <a:sy n="68" d="100"/>
        </p:scale>
        <p:origin x="90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622921-3C62-4954-8703-D33567B2292F}" type="doc">
      <dgm:prSet loTypeId="urn:microsoft.com/office/officeart/2005/8/layout/process5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304C18-2EF6-4C6C-BE7F-31F02A7002A9}">
      <dgm:prSet custT="1"/>
      <dgm:spPr/>
      <dgm:t>
        <a:bodyPr/>
        <a:lstStyle/>
        <a:p>
          <a:r>
            <a:rPr lang="fr-FR" sz="1000" b="1" dirty="0"/>
            <a:t>Préparation des données</a:t>
          </a:r>
          <a:br>
            <a:rPr lang="fr-FR" sz="1000" dirty="0"/>
          </a:br>
          <a:r>
            <a:rPr lang="fr-FR" sz="1000" i="1" dirty="0"/>
            <a:t>Nettoyage, transformation et uniformisation</a:t>
          </a:r>
          <a:endParaRPr lang="en-US" sz="1000" dirty="0"/>
        </a:p>
      </dgm:t>
    </dgm:pt>
    <dgm:pt modelId="{B695BCFA-E168-438A-AA44-7F39A5FAB206}" type="parTrans" cxnId="{99604FC6-7E7C-4343-93D0-077CF44FC0D2}">
      <dgm:prSet/>
      <dgm:spPr/>
      <dgm:t>
        <a:bodyPr/>
        <a:lstStyle/>
        <a:p>
          <a:endParaRPr lang="en-US"/>
        </a:p>
      </dgm:t>
    </dgm:pt>
    <dgm:pt modelId="{5CE69E63-35DD-4695-BDEC-765A2EC1C26C}" type="sibTrans" cxnId="{99604FC6-7E7C-4343-93D0-077CF44FC0D2}">
      <dgm:prSet/>
      <dgm:spPr/>
      <dgm:t>
        <a:bodyPr/>
        <a:lstStyle/>
        <a:p>
          <a:endParaRPr lang="en-US"/>
        </a:p>
      </dgm:t>
    </dgm:pt>
    <dgm:pt modelId="{2AD459A7-70B3-4046-A489-2CA28694AAC0}">
      <dgm:prSet custT="1"/>
      <dgm:spPr/>
      <dgm:t>
        <a:bodyPr/>
        <a:lstStyle/>
        <a:p>
          <a:r>
            <a:rPr lang="fr-FR" sz="1000" dirty="0"/>
            <a:t>Importation de 6 fichiers sources hétérogènes (Excel, CSV)</a:t>
          </a:r>
          <a:endParaRPr lang="en-US" sz="1000" dirty="0"/>
        </a:p>
      </dgm:t>
    </dgm:pt>
    <dgm:pt modelId="{2FF14217-BEF9-4FD4-8D09-471687EE4DFD}" type="parTrans" cxnId="{76EA0714-E076-4C1A-A04A-99D179F98E9F}">
      <dgm:prSet/>
      <dgm:spPr/>
      <dgm:t>
        <a:bodyPr/>
        <a:lstStyle/>
        <a:p>
          <a:endParaRPr lang="en-US"/>
        </a:p>
      </dgm:t>
    </dgm:pt>
    <dgm:pt modelId="{C3626498-9F76-4F1F-8697-E99543FC5EAA}" type="sibTrans" cxnId="{76EA0714-E076-4C1A-A04A-99D179F98E9F}">
      <dgm:prSet/>
      <dgm:spPr/>
      <dgm:t>
        <a:bodyPr/>
        <a:lstStyle/>
        <a:p>
          <a:endParaRPr lang="en-US"/>
        </a:p>
      </dgm:t>
    </dgm:pt>
    <dgm:pt modelId="{AE749246-A285-4556-AF90-20415DF89DF9}">
      <dgm:prSet custT="1"/>
      <dgm:spPr/>
      <dgm:t>
        <a:bodyPr/>
        <a:lstStyle/>
        <a:p>
          <a:r>
            <a:rPr lang="fr-FR" sz="1000" dirty="0"/>
            <a:t>Création d’une clé primaire avec le pays et l’année</a:t>
          </a:r>
          <a:endParaRPr lang="en-US" sz="1000" dirty="0"/>
        </a:p>
      </dgm:t>
    </dgm:pt>
    <dgm:pt modelId="{9F4BE206-B3DE-4907-9EEF-FF12E2777B20}" type="parTrans" cxnId="{B14B7AF4-1544-4F56-9564-CD5F00027205}">
      <dgm:prSet/>
      <dgm:spPr/>
      <dgm:t>
        <a:bodyPr/>
        <a:lstStyle/>
        <a:p>
          <a:endParaRPr lang="en-US"/>
        </a:p>
      </dgm:t>
    </dgm:pt>
    <dgm:pt modelId="{1261CEBB-9CF9-46DE-B341-31D5741D62B4}" type="sibTrans" cxnId="{B14B7AF4-1544-4F56-9564-CD5F00027205}">
      <dgm:prSet/>
      <dgm:spPr/>
      <dgm:t>
        <a:bodyPr/>
        <a:lstStyle/>
        <a:p>
          <a:endParaRPr lang="en-US"/>
        </a:p>
      </dgm:t>
    </dgm:pt>
    <dgm:pt modelId="{ECB713A3-6E61-4615-BB84-71D49EFFA79C}">
      <dgm:prSet custT="1"/>
      <dgm:spPr/>
      <dgm:t>
        <a:bodyPr/>
        <a:lstStyle/>
        <a:p>
          <a:r>
            <a:rPr lang="fr-FR" sz="1000" dirty="0"/>
            <a:t>Nettoyage des colonnes contenant des séparateurs de milliers mal interprétés</a:t>
          </a:r>
          <a:endParaRPr lang="en-US" sz="1000" dirty="0"/>
        </a:p>
      </dgm:t>
    </dgm:pt>
    <dgm:pt modelId="{0E07AD82-CB4D-4DB1-9B67-EC60E9F8C6FD}" type="parTrans" cxnId="{4F443804-1170-42FD-8283-AFE41D742FA3}">
      <dgm:prSet/>
      <dgm:spPr/>
      <dgm:t>
        <a:bodyPr/>
        <a:lstStyle/>
        <a:p>
          <a:endParaRPr lang="en-US"/>
        </a:p>
      </dgm:t>
    </dgm:pt>
    <dgm:pt modelId="{E5703A5D-FFDB-4FD5-BCDF-0B923CD27E43}" type="sibTrans" cxnId="{4F443804-1170-42FD-8283-AFE41D742FA3}">
      <dgm:prSet/>
      <dgm:spPr/>
      <dgm:t>
        <a:bodyPr/>
        <a:lstStyle/>
        <a:p>
          <a:endParaRPr lang="en-US"/>
        </a:p>
      </dgm:t>
    </dgm:pt>
    <dgm:pt modelId="{B3F4C66D-CD6B-4F52-96E9-AC7DBA5D4A7C}">
      <dgm:prSet custT="1"/>
      <dgm:spPr/>
      <dgm:t>
        <a:bodyPr/>
        <a:lstStyle/>
        <a:p>
          <a:r>
            <a:rPr lang="fr-FR" sz="1000" dirty="0"/>
            <a:t>Uniformisation des types (dates, numériques, chaînes)</a:t>
          </a:r>
          <a:endParaRPr lang="en-US" sz="1000" dirty="0"/>
        </a:p>
      </dgm:t>
    </dgm:pt>
    <dgm:pt modelId="{AB17BA28-F507-401E-B7D8-0DB42078B3E3}" type="parTrans" cxnId="{4BCA08D0-97B6-4D1C-9419-3C95A4C45FED}">
      <dgm:prSet/>
      <dgm:spPr/>
      <dgm:t>
        <a:bodyPr/>
        <a:lstStyle/>
        <a:p>
          <a:endParaRPr lang="en-US"/>
        </a:p>
      </dgm:t>
    </dgm:pt>
    <dgm:pt modelId="{94F5FCC6-E3EA-4695-9012-8D8FE5F5F978}" type="sibTrans" cxnId="{4BCA08D0-97B6-4D1C-9419-3C95A4C45FED}">
      <dgm:prSet/>
      <dgm:spPr/>
      <dgm:t>
        <a:bodyPr/>
        <a:lstStyle/>
        <a:p>
          <a:endParaRPr lang="en-US"/>
        </a:p>
      </dgm:t>
    </dgm:pt>
    <dgm:pt modelId="{BEB41A1B-2D4F-4F89-AB7D-1B05963781D6}">
      <dgm:prSet custT="1"/>
      <dgm:spPr/>
      <dgm:t>
        <a:bodyPr/>
        <a:lstStyle/>
        <a:p>
          <a:r>
            <a:rPr lang="fr-FR" sz="1000" dirty="0"/>
            <a:t>Suppression des lignes ou valeurs aberrantes</a:t>
          </a:r>
          <a:endParaRPr lang="en-US" sz="1000" dirty="0"/>
        </a:p>
      </dgm:t>
    </dgm:pt>
    <dgm:pt modelId="{0FE7C918-D575-4A4B-A0BA-F01623971C06}" type="parTrans" cxnId="{E72146D5-8790-44C3-81CC-DB25085936A1}">
      <dgm:prSet/>
      <dgm:spPr/>
      <dgm:t>
        <a:bodyPr/>
        <a:lstStyle/>
        <a:p>
          <a:endParaRPr lang="en-US"/>
        </a:p>
      </dgm:t>
    </dgm:pt>
    <dgm:pt modelId="{BB44D5E5-8AE7-4A03-AC6E-AAC60921CB0F}" type="sibTrans" cxnId="{E72146D5-8790-44C3-81CC-DB25085936A1}">
      <dgm:prSet/>
      <dgm:spPr/>
      <dgm:t>
        <a:bodyPr/>
        <a:lstStyle/>
        <a:p>
          <a:endParaRPr lang="en-US"/>
        </a:p>
      </dgm:t>
    </dgm:pt>
    <dgm:pt modelId="{BC6CA907-1F29-4435-8D2B-2D774046C9D8}">
      <dgm:prSet custT="1"/>
      <dgm:spPr/>
      <dgm:t>
        <a:bodyPr/>
        <a:lstStyle/>
        <a:p>
          <a:r>
            <a:rPr lang="fr-FR" sz="1000" dirty="0"/>
            <a:t>Normalisation des noms de pays et continents</a:t>
          </a:r>
          <a:endParaRPr lang="en-US" sz="1000" dirty="0"/>
        </a:p>
      </dgm:t>
    </dgm:pt>
    <dgm:pt modelId="{B9C64BFF-638B-4583-BC8A-8E42E2149B51}" type="parTrans" cxnId="{46CBB557-084E-492C-80F9-4C67BB29D0C1}">
      <dgm:prSet/>
      <dgm:spPr/>
      <dgm:t>
        <a:bodyPr/>
        <a:lstStyle/>
        <a:p>
          <a:endParaRPr lang="en-US"/>
        </a:p>
      </dgm:t>
    </dgm:pt>
    <dgm:pt modelId="{CC15E04B-31EF-4C76-823C-BC70A41F9E7C}" type="sibTrans" cxnId="{46CBB557-084E-492C-80F9-4C67BB29D0C1}">
      <dgm:prSet/>
      <dgm:spPr/>
      <dgm:t>
        <a:bodyPr/>
        <a:lstStyle/>
        <a:p>
          <a:endParaRPr lang="en-US"/>
        </a:p>
      </dgm:t>
    </dgm:pt>
    <dgm:pt modelId="{499EDBCF-8309-404D-8596-7D31C7291195}">
      <dgm:prSet custT="1"/>
      <dgm:spPr/>
      <dgm:t>
        <a:bodyPr/>
        <a:lstStyle/>
        <a:p>
          <a:r>
            <a:rPr lang="fr-FR" sz="1000" dirty="0"/>
            <a:t>Arrondi et homogénéisation des unités (milliers, millions)</a:t>
          </a:r>
          <a:endParaRPr lang="en-US" sz="1000" dirty="0"/>
        </a:p>
      </dgm:t>
    </dgm:pt>
    <dgm:pt modelId="{AC82F768-54EA-4529-9BA9-1259F5D0B326}" type="parTrans" cxnId="{7B6F7C37-1294-4AB6-A9FC-58252FAA7560}">
      <dgm:prSet/>
      <dgm:spPr/>
      <dgm:t>
        <a:bodyPr/>
        <a:lstStyle/>
        <a:p>
          <a:endParaRPr lang="en-US"/>
        </a:p>
      </dgm:t>
    </dgm:pt>
    <dgm:pt modelId="{7A4B7BB3-5107-4C5C-A02F-70271D9A3B6E}" type="sibTrans" cxnId="{7B6F7C37-1294-4AB6-A9FC-58252FAA7560}">
      <dgm:prSet/>
      <dgm:spPr/>
      <dgm:t>
        <a:bodyPr/>
        <a:lstStyle/>
        <a:p>
          <a:endParaRPr lang="en-US"/>
        </a:p>
      </dgm:t>
    </dgm:pt>
    <dgm:pt modelId="{318E3EAA-9119-4625-B9CD-F0B1E59CB457}" type="pres">
      <dgm:prSet presAssocID="{81622921-3C62-4954-8703-D33567B2292F}" presName="diagram" presStyleCnt="0">
        <dgm:presLayoutVars>
          <dgm:dir/>
          <dgm:resizeHandles val="exact"/>
        </dgm:presLayoutVars>
      </dgm:prSet>
      <dgm:spPr/>
    </dgm:pt>
    <dgm:pt modelId="{B73C3CE7-0098-4E78-9B9F-3E05294F938D}" type="pres">
      <dgm:prSet presAssocID="{C8304C18-2EF6-4C6C-BE7F-31F02A7002A9}" presName="node" presStyleLbl="node1" presStyleIdx="0" presStyleCnt="8">
        <dgm:presLayoutVars>
          <dgm:bulletEnabled val="1"/>
        </dgm:presLayoutVars>
      </dgm:prSet>
      <dgm:spPr/>
    </dgm:pt>
    <dgm:pt modelId="{AA93E56E-BABB-454C-8421-915652B8D56D}" type="pres">
      <dgm:prSet presAssocID="{5CE69E63-35DD-4695-BDEC-765A2EC1C26C}" presName="sibTrans" presStyleLbl="sibTrans2D1" presStyleIdx="0" presStyleCnt="7"/>
      <dgm:spPr/>
    </dgm:pt>
    <dgm:pt modelId="{FB27A30A-CD05-4B13-87D4-575165A90876}" type="pres">
      <dgm:prSet presAssocID="{5CE69E63-35DD-4695-BDEC-765A2EC1C26C}" presName="connectorText" presStyleLbl="sibTrans2D1" presStyleIdx="0" presStyleCnt="7"/>
      <dgm:spPr/>
    </dgm:pt>
    <dgm:pt modelId="{2A3E998C-9065-4B3F-B9A1-E5FC723266A8}" type="pres">
      <dgm:prSet presAssocID="{2AD459A7-70B3-4046-A489-2CA28694AAC0}" presName="node" presStyleLbl="node1" presStyleIdx="1" presStyleCnt="8">
        <dgm:presLayoutVars>
          <dgm:bulletEnabled val="1"/>
        </dgm:presLayoutVars>
      </dgm:prSet>
      <dgm:spPr/>
    </dgm:pt>
    <dgm:pt modelId="{36B46B39-14AC-4076-B883-61162DAA6EE6}" type="pres">
      <dgm:prSet presAssocID="{C3626498-9F76-4F1F-8697-E99543FC5EAA}" presName="sibTrans" presStyleLbl="sibTrans2D1" presStyleIdx="1" presStyleCnt="7"/>
      <dgm:spPr/>
    </dgm:pt>
    <dgm:pt modelId="{BB28406C-9B1C-41E5-AE9F-A4405BE41DA0}" type="pres">
      <dgm:prSet presAssocID="{C3626498-9F76-4F1F-8697-E99543FC5EAA}" presName="connectorText" presStyleLbl="sibTrans2D1" presStyleIdx="1" presStyleCnt="7"/>
      <dgm:spPr/>
    </dgm:pt>
    <dgm:pt modelId="{B7956BA4-F3D2-44C9-BA00-B29E6D716E01}" type="pres">
      <dgm:prSet presAssocID="{AE749246-A285-4556-AF90-20415DF89DF9}" presName="node" presStyleLbl="node1" presStyleIdx="2" presStyleCnt="8">
        <dgm:presLayoutVars>
          <dgm:bulletEnabled val="1"/>
        </dgm:presLayoutVars>
      </dgm:prSet>
      <dgm:spPr/>
    </dgm:pt>
    <dgm:pt modelId="{A60A033B-0281-4F28-AB60-35EA3E9B3D3C}" type="pres">
      <dgm:prSet presAssocID="{1261CEBB-9CF9-46DE-B341-31D5741D62B4}" presName="sibTrans" presStyleLbl="sibTrans2D1" presStyleIdx="2" presStyleCnt="7"/>
      <dgm:spPr/>
    </dgm:pt>
    <dgm:pt modelId="{C600DC1E-7DE8-416B-9169-414DDE4A41FD}" type="pres">
      <dgm:prSet presAssocID="{1261CEBB-9CF9-46DE-B341-31D5741D62B4}" presName="connectorText" presStyleLbl="sibTrans2D1" presStyleIdx="2" presStyleCnt="7"/>
      <dgm:spPr/>
    </dgm:pt>
    <dgm:pt modelId="{9BFF89BF-1258-4AAE-847E-6E8D8C3CF623}" type="pres">
      <dgm:prSet presAssocID="{ECB713A3-6E61-4615-BB84-71D49EFFA79C}" presName="node" presStyleLbl="node1" presStyleIdx="3" presStyleCnt="8">
        <dgm:presLayoutVars>
          <dgm:bulletEnabled val="1"/>
        </dgm:presLayoutVars>
      </dgm:prSet>
      <dgm:spPr/>
    </dgm:pt>
    <dgm:pt modelId="{C318D6CC-6622-47E3-91AF-238963840CF3}" type="pres">
      <dgm:prSet presAssocID="{E5703A5D-FFDB-4FD5-BCDF-0B923CD27E43}" presName="sibTrans" presStyleLbl="sibTrans2D1" presStyleIdx="3" presStyleCnt="7"/>
      <dgm:spPr/>
    </dgm:pt>
    <dgm:pt modelId="{D0A9BB9A-CF4E-4FCC-9549-0E5D63D47169}" type="pres">
      <dgm:prSet presAssocID="{E5703A5D-FFDB-4FD5-BCDF-0B923CD27E43}" presName="connectorText" presStyleLbl="sibTrans2D1" presStyleIdx="3" presStyleCnt="7"/>
      <dgm:spPr/>
    </dgm:pt>
    <dgm:pt modelId="{D4DB2811-A35A-41F2-9A2D-81A59A52EE6A}" type="pres">
      <dgm:prSet presAssocID="{B3F4C66D-CD6B-4F52-96E9-AC7DBA5D4A7C}" presName="node" presStyleLbl="node1" presStyleIdx="4" presStyleCnt="8">
        <dgm:presLayoutVars>
          <dgm:bulletEnabled val="1"/>
        </dgm:presLayoutVars>
      </dgm:prSet>
      <dgm:spPr/>
    </dgm:pt>
    <dgm:pt modelId="{5F369EA5-D85E-4E11-B1AE-F87D2006B498}" type="pres">
      <dgm:prSet presAssocID="{94F5FCC6-E3EA-4695-9012-8D8FE5F5F978}" presName="sibTrans" presStyleLbl="sibTrans2D1" presStyleIdx="4" presStyleCnt="7"/>
      <dgm:spPr/>
    </dgm:pt>
    <dgm:pt modelId="{8191F94D-C478-4370-A914-A0AA8249010E}" type="pres">
      <dgm:prSet presAssocID="{94F5FCC6-E3EA-4695-9012-8D8FE5F5F978}" presName="connectorText" presStyleLbl="sibTrans2D1" presStyleIdx="4" presStyleCnt="7"/>
      <dgm:spPr/>
    </dgm:pt>
    <dgm:pt modelId="{A0B4F8E8-DAED-4F8E-B3A4-76F169A94A05}" type="pres">
      <dgm:prSet presAssocID="{BEB41A1B-2D4F-4F89-AB7D-1B05963781D6}" presName="node" presStyleLbl="node1" presStyleIdx="5" presStyleCnt="8">
        <dgm:presLayoutVars>
          <dgm:bulletEnabled val="1"/>
        </dgm:presLayoutVars>
      </dgm:prSet>
      <dgm:spPr/>
    </dgm:pt>
    <dgm:pt modelId="{6F6B3282-2EE7-4C41-86D3-1890BDA0CA0F}" type="pres">
      <dgm:prSet presAssocID="{BB44D5E5-8AE7-4A03-AC6E-AAC60921CB0F}" presName="sibTrans" presStyleLbl="sibTrans2D1" presStyleIdx="5" presStyleCnt="7"/>
      <dgm:spPr/>
    </dgm:pt>
    <dgm:pt modelId="{2A8588AE-0556-4280-92D4-C6ED8E7840CA}" type="pres">
      <dgm:prSet presAssocID="{BB44D5E5-8AE7-4A03-AC6E-AAC60921CB0F}" presName="connectorText" presStyleLbl="sibTrans2D1" presStyleIdx="5" presStyleCnt="7"/>
      <dgm:spPr/>
    </dgm:pt>
    <dgm:pt modelId="{A3CA82CA-C604-4A50-9660-1604498AA2AE}" type="pres">
      <dgm:prSet presAssocID="{BC6CA907-1F29-4435-8D2B-2D774046C9D8}" presName="node" presStyleLbl="node1" presStyleIdx="6" presStyleCnt="8">
        <dgm:presLayoutVars>
          <dgm:bulletEnabled val="1"/>
        </dgm:presLayoutVars>
      </dgm:prSet>
      <dgm:spPr/>
    </dgm:pt>
    <dgm:pt modelId="{9F8F2785-8CB6-429C-AF52-7B022DD87C78}" type="pres">
      <dgm:prSet presAssocID="{CC15E04B-31EF-4C76-823C-BC70A41F9E7C}" presName="sibTrans" presStyleLbl="sibTrans2D1" presStyleIdx="6" presStyleCnt="7"/>
      <dgm:spPr/>
    </dgm:pt>
    <dgm:pt modelId="{08F7FA71-36DB-4B16-84BC-DFE3CAC20065}" type="pres">
      <dgm:prSet presAssocID="{CC15E04B-31EF-4C76-823C-BC70A41F9E7C}" presName="connectorText" presStyleLbl="sibTrans2D1" presStyleIdx="6" presStyleCnt="7"/>
      <dgm:spPr/>
    </dgm:pt>
    <dgm:pt modelId="{42B29D4A-AFBE-4BEA-9780-A75B4DD7331A}" type="pres">
      <dgm:prSet presAssocID="{499EDBCF-8309-404D-8596-7D31C7291195}" presName="node" presStyleLbl="node1" presStyleIdx="7" presStyleCnt="8">
        <dgm:presLayoutVars>
          <dgm:bulletEnabled val="1"/>
        </dgm:presLayoutVars>
      </dgm:prSet>
      <dgm:spPr/>
    </dgm:pt>
  </dgm:ptLst>
  <dgm:cxnLst>
    <dgm:cxn modelId="{05D20200-072D-4BD1-A85B-4E1EEF51D15C}" type="presOf" srcId="{499EDBCF-8309-404D-8596-7D31C7291195}" destId="{42B29D4A-AFBE-4BEA-9780-A75B4DD7331A}" srcOrd="0" destOrd="0" presId="urn:microsoft.com/office/officeart/2005/8/layout/process5"/>
    <dgm:cxn modelId="{4F443804-1170-42FD-8283-AFE41D742FA3}" srcId="{81622921-3C62-4954-8703-D33567B2292F}" destId="{ECB713A3-6E61-4615-BB84-71D49EFFA79C}" srcOrd="3" destOrd="0" parTransId="{0E07AD82-CB4D-4DB1-9B67-EC60E9F8C6FD}" sibTransId="{E5703A5D-FFDB-4FD5-BCDF-0B923CD27E43}"/>
    <dgm:cxn modelId="{3B874A07-50A1-4FAB-8B26-B8AEAC8BBBE9}" type="presOf" srcId="{C8304C18-2EF6-4C6C-BE7F-31F02A7002A9}" destId="{B73C3CE7-0098-4E78-9B9F-3E05294F938D}" srcOrd="0" destOrd="0" presId="urn:microsoft.com/office/officeart/2005/8/layout/process5"/>
    <dgm:cxn modelId="{76EA0714-E076-4C1A-A04A-99D179F98E9F}" srcId="{81622921-3C62-4954-8703-D33567B2292F}" destId="{2AD459A7-70B3-4046-A489-2CA28694AAC0}" srcOrd="1" destOrd="0" parTransId="{2FF14217-BEF9-4FD4-8D09-471687EE4DFD}" sibTransId="{C3626498-9F76-4F1F-8697-E99543FC5EAA}"/>
    <dgm:cxn modelId="{EB7A7C17-60B0-4687-AAB9-307F3BD413B4}" type="presOf" srcId="{5CE69E63-35DD-4695-BDEC-765A2EC1C26C}" destId="{AA93E56E-BABB-454C-8421-915652B8D56D}" srcOrd="0" destOrd="0" presId="urn:microsoft.com/office/officeart/2005/8/layout/process5"/>
    <dgm:cxn modelId="{4F45F51A-5D06-4C7F-A0A8-6B2A2D2E9728}" type="presOf" srcId="{E5703A5D-FFDB-4FD5-BCDF-0B923CD27E43}" destId="{D0A9BB9A-CF4E-4FCC-9549-0E5D63D47169}" srcOrd="1" destOrd="0" presId="urn:microsoft.com/office/officeart/2005/8/layout/process5"/>
    <dgm:cxn modelId="{561BF41B-B0FA-48EE-BEA8-01C203215F5E}" type="presOf" srcId="{81622921-3C62-4954-8703-D33567B2292F}" destId="{318E3EAA-9119-4625-B9CD-F0B1E59CB457}" srcOrd="0" destOrd="0" presId="urn:microsoft.com/office/officeart/2005/8/layout/process5"/>
    <dgm:cxn modelId="{1072621E-C06C-4EF8-934D-F48B1019B6CD}" type="presOf" srcId="{CC15E04B-31EF-4C76-823C-BC70A41F9E7C}" destId="{9F8F2785-8CB6-429C-AF52-7B022DD87C78}" srcOrd="0" destOrd="0" presId="urn:microsoft.com/office/officeart/2005/8/layout/process5"/>
    <dgm:cxn modelId="{7B6F7C37-1294-4AB6-A9FC-58252FAA7560}" srcId="{81622921-3C62-4954-8703-D33567B2292F}" destId="{499EDBCF-8309-404D-8596-7D31C7291195}" srcOrd="7" destOrd="0" parTransId="{AC82F768-54EA-4529-9BA9-1259F5D0B326}" sibTransId="{7A4B7BB3-5107-4C5C-A02F-70271D9A3B6E}"/>
    <dgm:cxn modelId="{40C8213C-329A-441C-BE88-A727EC269066}" type="presOf" srcId="{94F5FCC6-E3EA-4695-9012-8D8FE5F5F978}" destId="{8191F94D-C478-4370-A914-A0AA8249010E}" srcOrd="1" destOrd="0" presId="urn:microsoft.com/office/officeart/2005/8/layout/process5"/>
    <dgm:cxn modelId="{FF1FDE62-E8DE-4969-AF9A-FDE38A6FD7C9}" type="presOf" srcId="{CC15E04B-31EF-4C76-823C-BC70A41F9E7C}" destId="{08F7FA71-36DB-4B16-84BC-DFE3CAC20065}" srcOrd="1" destOrd="0" presId="urn:microsoft.com/office/officeart/2005/8/layout/process5"/>
    <dgm:cxn modelId="{F18AAC4C-6E2D-464E-A456-0E9397661330}" type="presOf" srcId="{94F5FCC6-E3EA-4695-9012-8D8FE5F5F978}" destId="{5F369EA5-D85E-4E11-B1AE-F87D2006B498}" srcOrd="0" destOrd="0" presId="urn:microsoft.com/office/officeart/2005/8/layout/process5"/>
    <dgm:cxn modelId="{66998E6D-08BB-4311-AAAB-C47CED2B8397}" type="presOf" srcId="{B3F4C66D-CD6B-4F52-96E9-AC7DBA5D4A7C}" destId="{D4DB2811-A35A-41F2-9A2D-81A59A52EE6A}" srcOrd="0" destOrd="0" presId="urn:microsoft.com/office/officeart/2005/8/layout/process5"/>
    <dgm:cxn modelId="{54BC0E51-223C-42EA-89BF-C0DFDAA823DE}" type="presOf" srcId="{C3626498-9F76-4F1F-8697-E99543FC5EAA}" destId="{BB28406C-9B1C-41E5-AE9F-A4405BE41DA0}" srcOrd="1" destOrd="0" presId="urn:microsoft.com/office/officeart/2005/8/layout/process5"/>
    <dgm:cxn modelId="{59EBBC74-4CD9-43F9-8795-0B49694A9EE5}" type="presOf" srcId="{E5703A5D-FFDB-4FD5-BCDF-0B923CD27E43}" destId="{C318D6CC-6622-47E3-91AF-238963840CF3}" srcOrd="0" destOrd="0" presId="urn:microsoft.com/office/officeart/2005/8/layout/process5"/>
    <dgm:cxn modelId="{2D7FAD56-0962-42A7-9DA0-087B5DF92C5A}" type="presOf" srcId="{5CE69E63-35DD-4695-BDEC-765A2EC1C26C}" destId="{FB27A30A-CD05-4B13-87D4-575165A90876}" srcOrd="1" destOrd="0" presId="urn:microsoft.com/office/officeart/2005/8/layout/process5"/>
    <dgm:cxn modelId="{46CBB557-084E-492C-80F9-4C67BB29D0C1}" srcId="{81622921-3C62-4954-8703-D33567B2292F}" destId="{BC6CA907-1F29-4435-8D2B-2D774046C9D8}" srcOrd="6" destOrd="0" parTransId="{B9C64BFF-638B-4583-BC8A-8E42E2149B51}" sibTransId="{CC15E04B-31EF-4C76-823C-BC70A41F9E7C}"/>
    <dgm:cxn modelId="{596B207E-B5A4-4A57-BCBD-75B364915D67}" type="presOf" srcId="{1261CEBB-9CF9-46DE-B341-31D5741D62B4}" destId="{A60A033B-0281-4F28-AB60-35EA3E9B3D3C}" srcOrd="0" destOrd="0" presId="urn:microsoft.com/office/officeart/2005/8/layout/process5"/>
    <dgm:cxn modelId="{15A9288E-4A32-4E05-A750-74F03364CA35}" type="presOf" srcId="{BB44D5E5-8AE7-4A03-AC6E-AAC60921CB0F}" destId="{2A8588AE-0556-4280-92D4-C6ED8E7840CA}" srcOrd="1" destOrd="0" presId="urn:microsoft.com/office/officeart/2005/8/layout/process5"/>
    <dgm:cxn modelId="{4AC55495-D812-4EB3-868E-45E1EE5C3D16}" type="presOf" srcId="{AE749246-A285-4556-AF90-20415DF89DF9}" destId="{B7956BA4-F3D2-44C9-BA00-B29E6D716E01}" srcOrd="0" destOrd="0" presId="urn:microsoft.com/office/officeart/2005/8/layout/process5"/>
    <dgm:cxn modelId="{92BB24BF-5802-4027-90FA-1DB903F3972B}" type="presOf" srcId="{1261CEBB-9CF9-46DE-B341-31D5741D62B4}" destId="{C600DC1E-7DE8-416B-9169-414DDE4A41FD}" srcOrd="1" destOrd="0" presId="urn:microsoft.com/office/officeart/2005/8/layout/process5"/>
    <dgm:cxn modelId="{99604FC6-7E7C-4343-93D0-077CF44FC0D2}" srcId="{81622921-3C62-4954-8703-D33567B2292F}" destId="{C8304C18-2EF6-4C6C-BE7F-31F02A7002A9}" srcOrd="0" destOrd="0" parTransId="{B695BCFA-E168-438A-AA44-7F39A5FAB206}" sibTransId="{5CE69E63-35DD-4695-BDEC-765A2EC1C26C}"/>
    <dgm:cxn modelId="{4BCA08D0-97B6-4D1C-9419-3C95A4C45FED}" srcId="{81622921-3C62-4954-8703-D33567B2292F}" destId="{B3F4C66D-CD6B-4F52-96E9-AC7DBA5D4A7C}" srcOrd="4" destOrd="0" parTransId="{AB17BA28-F507-401E-B7D8-0DB42078B3E3}" sibTransId="{94F5FCC6-E3EA-4695-9012-8D8FE5F5F978}"/>
    <dgm:cxn modelId="{E5263BD1-7A27-4E9A-99F4-D83574B9E0DE}" type="presOf" srcId="{BC6CA907-1F29-4435-8D2B-2D774046C9D8}" destId="{A3CA82CA-C604-4A50-9660-1604498AA2AE}" srcOrd="0" destOrd="0" presId="urn:microsoft.com/office/officeart/2005/8/layout/process5"/>
    <dgm:cxn modelId="{E72146D5-8790-44C3-81CC-DB25085936A1}" srcId="{81622921-3C62-4954-8703-D33567B2292F}" destId="{BEB41A1B-2D4F-4F89-AB7D-1B05963781D6}" srcOrd="5" destOrd="0" parTransId="{0FE7C918-D575-4A4B-A0BA-F01623971C06}" sibTransId="{BB44D5E5-8AE7-4A03-AC6E-AAC60921CB0F}"/>
    <dgm:cxn modelId="{5E496BE2-9AC6-4513-9843-51D90F2E7B11}" type="presOf" srcId="{BEB41A1B-2D4F-4F89-AB7D-1B05963781D6}" destId="{A0B4F8E8-DAED-4F8E-B3A4-76F169A94A05}" srcOrd="0" destOrd="0" presId="urn:microsoft.com/office/officeart/2005/8/layout/process5"/>
    <dgm:cxn modelId="{C68E25E8-623D-4BEF-832E-E5C35E1545F9}" type="presOf" srcId="{BB44D5E5-8AE7-4A03-AC6E-AAC60921CB0F}" destId="{6F6B3282-2EE7-4C41-86D3-1890BDA0CA0F}" srcOrd="0" destOrd="0" presId="urn:microsoft.com/office/officeart/2005/8/layout/process5"/>
    <dgm:cxn modelId="{B14B7AF4-1544-4F56-9564-CD5F00027205}" srcId="{81622921-3C62-4954-8703-D33567B2292F}" destId="{AE749246-A285-4556-AF90-20415DF89DF9}" srcOrd="2" destOrd="0" parTransId="{9F4BE206-B3DE-4907-9EEF-FF12E2777B20}" sibTransId="{1261CEBB-9CF9-46DE-B341-31D5741D62B4}"/>
    <dgm:cxn modelId="{74F1D8FA-3AD9-4D1F-A1CF-63016D6EE2EA}" type="presOf" srcId="{2AD459A7-70B3-4046-A489-2CA28694AAC0}" destId="{2A3E998C-9065-4B3F-B9A1-E5FC723266A8}" srcOrd="0" destOrd="0" presId="urn:microsoft.com/office/officeart/2005/8/layout/process5"/>
    <dgm:cxn modelId="{AA0C50FC-E381-4BF9-9CEE-16C3D51F0E6D}" type="presOf" srcId="{C3626498-9F76-4F1F-8697-E99543FC5EAA}" destId="{36B46B39-14AC-4076-B883-61162DAA6EE6}" srcOrd="0" destOrd="0" presId="urn:microsoft.com/office/officeart/2005/8/layout/process5"/>
    <dgm:cxn modelId="{5D71A9FC-9B8D-42F5-ABEF-93A579481942}" type="presOf" srcId="{ECB713A3-6E61-4615-BB84-71D49EFFA79C}" destId="{9BFF89BF-1258-4AAE-847E-6E8D8C3CF623}" srcOrd="0" destOrd="0" presId="urn:microsoft.com/office/officeart/2005/8/layout/process5"/>
    <dgm:cxn modelId="{01C7F3EE-A8E2-4A49-B8BC-DBF84C7626A7}" type="presParOf" srcId="{318E3EAA-9119-4625-B9CD-F0B1E59CB457}" destId="{B73C3CE7-0098-4E78-9B9F-3E05294F938D}" srcOrd="0" destOrd="0" presId="urn:microsoft.com/office/officeart/2005/8/layout/process5"/>
    <dgm:cxn modelId="{66D85D25-90B2-4399-9DEB-40A8F96A298B}" type="presParOf" srcId="{318E3EAA-9119-4625-B9CD-F0B1E59CB457}" destId="{AA93E56E-BABB-454C-8421-915652B8D56D}" srcOrd="1" destOrd="0" presId="urn:microsoft.com/office/officeart/2005/8/layout/process5"/>
    <dgm:cxn modelId="{D37CB172-7180-4DFB-A278-DB8976FFFCB1}" type="presParOf" srcId="{AA93E56E-BABB-454C-8421-915652B8D56D}" destId="{FB27A30A-CD05-4B13-87D4-575165A90876}" srcOrd="0" destOrd="0" presId="urn:microsoft.com/office/officeart/2005/8/layout/process5"/>
    <dgm:cxn modelId="{572FD1E7-2567-4BE6-B16F-4D536751C4B9}" type="presParOf" srcId="{318E3EAA-9119-4625-B9CD-F0B1E59CB457}" destId="{2A3E998C-9065-4B3F-B9A1-E5FC723266A8}" srcOrd="2" destOrd="0" presId="urn:microsoft.com/office/officeart/2005/8/layout/process5"/>
    <dgm:cxn modelId="{B009AB8C-6306-477D-8A59-D6EFC0EED644}" type="presParOf" srcId="{318E3EAA-9119-4625-B9CD-F0B1E59CB457}" destId="{36B46B39-14AC-4076-B883-61162DAA6EE6}" srcOrd="3" destOrd="0" presId="urn:microsoft.com/office/officeart/2005/8/layout/process5"/>
    <dgm:cxn modelId="{0F1EF2C6-2C31-4E2C-B389-E095286BF258}" type="presParOf" srcId="{36B46B39-14AC-4076-B883-61162DAA6EE6}" destId="{BB28406C-9B1C-41E5-AE9F-A4405BE41DA0}" srcOrd="0" destOrd="0" presId="urn:microsoft.com/office/officeart/2005/8/layout/process5"/>
    <dgm:cxn modelId="{A6664F51-C772-4FDE-B945-3C48998D9C53}" type="presParOf" srcId="{318E3EAA-9119-4625-B9CD-F0B1E59CB457}" destId="{B7956BA4-F3D2-44C9-BA00-B29E6D716E01}" srcOrd="4" destOrd="0" presId="urn:microsoft.com/office/officeart/2005/8/layout/process5"/>
    <dgm:cxn modelId="{5D415ECE-64D2-4289-A28B-84AF1941CE5F}" type="presParOf" srcId="{318E3EAA-9119-4625-B9CD-F0B1E59CB457}" destId="{A60A033B-0281-4F28-AB60-35EA3E9B3D3C}" srcOrd="5" destOrd="0" presId="urn:microsoft.com/office/officeart/2005/8/layout/process5"/>
    <dgm:cxn modelId="{8FC1F953-DC64-4D5F-BD1B-C5CC2B1B0670}" type="presParOf" srcId="{A60A033B-0281-4F28-AB60-35EA3E9B3D3C}" destId="{C600DC1E-7DE8-416B-9169-414DDE4A41FD}" srcOrd="0" destOrd="0" presId="urn:microsoft.com/office/officeart/2005/8/layout/process5"/>
    <dgm:cxn modelId="{D2542339-B53B-455F-A441-CC55E654CBD5}" type="presParOf" srcId="{318E3EAA-9119-4625-B9CD-F0B1E59CB457}" destId="{9BFF89BF-1258-4AAE-847E-6E8D8C3CF623}" srcOrd="6" destOrd="0" presId="urn:microsoft.com/office/officeart/2005/8/layout/process5"/>
    <dgm:cxn modelId="{6D490E6E-EB8A-4300-B2EB-1C89DCA566DC}" type="presParOf" srcId="{318E3EAA-9119-4625-B9CD-F0B1E59CB457}" destId="{C318D6CC-6622-47E3-91AF-238963840CF3}" srcOrd="7" destOrd="0" presId="urn:microsoft.com/office/officeart/2005/8/layout/process5"/>
    <dgm:cxn modelId="{FE69C0D8-A6E3-46E8-BA85-72A861BCDA37}" type="presParOf" srcId="{C318D6CC-6622-47E3-91AF-238963840CF3}" destId="{D0A9BB9A-CF4E-4FCC-9549-0E5D63D47169}" srcOrd="0" destOrd="0" presId="urn:microsoft.com/office/officeart/2005/8/layout/process5"/>
    <dgm:cxn modelId="{05713B3E-7C7F-4DD6-B35D-3277677D042F}" type="presParOf" srcId="{318E3EAA-9119-4625-B9CD-F0B1E59CB457}" destId="{D4DB2811-A35A-41F2-9A2D-81A59A52EE6A}" srcOrd="8" destOrd="0" presId="urn:microsoft.com/office/officeart/2005/8/layout/process5"/>
    <dgm:cxn modelId="{240809C1-E32F-42A8-BAFF-FB4C821AAEDC}" type="presParOf" srcId="{318E3EAA-9119-4625-B9CD-F0B1E59CB457}" destId="{5F369EA5-D85E-4E11-B1AE-F87D2006B498}" srcOrd="9" destOrd="0" presId="urn:microsoft.com/office/officeart/2005/8/layout/process5"/>
    <dgm:cxn modelId="{DD89C434-2E77-40A7-A86C-F6821B62031A}" type="presParOf" srcId="{5F369EA5-D85E-4E11-B1AE-F87D2006B498}" destId="{8191F94D-C478-4370-A914-A0AA8249010E}" srcOrd="0" destOrd="0" presId="urn:microsoft.com/office/officeart/2005/8/layout/process5"/>
    <dgm:cxn modelId="{4FF64999-B083-4980-A29B-D9C019DDEA28}" type="presParOf" srcId="{318E3EAA-9119-4625-B9CD-F0B1E59CB457}" destId="{A0B4F8E8-DAED-4F8E-B3A4-76F169A94A05}" srcOrd="10" destOrd="0" presId="urn:microsoft.com/office/officeart/2005/8/layout/process5"/>
    <dgm:cxn modelId="{80759368-6230-4DF2-886C-240620E4E0B8}" type="presParOf" srcId="{318E3EAA-9119-4625-B9CD-F0B1E59CB457}" destId="{6F6B3282-2EE7-4C41-86D3-1890BDA0CA0F}" srcOrd="11" destOrd="0" presId="urn:microsoft.com/office/officeart/2005/8/layout/process5"/>
    <dgm:cxn modelId="{33BC7E83-B134-4FC5-B72D-80D18B266B01}" type="presParOf" srcId="{6F6B3282-2EE7-4C41-86D3-1890BDA0CA0F}" destId="{2A8588AE-0556-4280-92D4-C6ED8E7840CA}" srcOrd="0" destOrd="0" presId="urn:microsoft.com/office/officeart/2005/8/layout/process5"/>
    <dgm:cxn modelId="{058CF01D-165B-4539-9DB7-2EA22523A5FD}" type="presParOf" srcId="{318E3EAA-9119-4625-B9CD-F0B1E59CB457}" destId="{A3CA82CA-C604-4A50-9660-1604498AA2AE}" srcOrd="12" destOrd="0" presId="urn:microsoft.com/office/officeart/2005/8/layout/process5"/>
    <dgm:cxn modelId="{F402BC24-FFE0-4C4B-B3B1-41CC9553400D}" type="presParOf" srcId="{318E3EAA-9119-4625-B9CD-F0B1E59CB457}" destId="{9F8F2785-8CB6-429C-AF52-7B022DD87C78}" srcOrd="13" destOrd="0" presId="urn:microsoft.com/office/officeart/2005/8/layout/process5"/>
    <dgm:cxn modelId="{235A0B3A-44A7-404E-B96D-0A626C778092}" type="presParOf" srcId="{9F8F2785-8CB6-429C-AF52-7B022DD87C78}" destId="{08F7FA71-36DB-4B16-84BC-DFE3CAC20065}" srcOrd="0" destOrd="0" presId="urn:microsoft.com/office/officeart/2005/8/layout/process5"/>
    <dgm:cxn modelId="{AC9ECE84-8EF8-4743-A91D-2683582D77CC}" type="presParOf" srcId="{318E3EAA-9119-4625-B9CD-F0B1E59CB457}" destId="{42B29D4A-AFBE-4BEA-9780-A75B4DD7331A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8E841A-76B5-48EA-BFD3-35112954A23D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935220-F1C5-4A59-9AC8-8367E3DA880A}">
      <dgm:prSet/>
      <dgm:spPr/>
      <dgm:t>
        <a:bodyPr/>
        <a:lstStyle/>
        <a:p>
          <a:r>
            <a:rPr lang="fr-FR" b="0" i="0" baseline="0"/>
            <a:t>Le tableau de bord DWFA offre une visualisation multi-échelles (monde, continent, pays) pour suivre les enjeux liés à l’accès à l’eau potable.</a:t>
          </a:r>
          <a:endParaRPr lang="en-US"/>
        </a:p>
      </dgm:t>
    </dgm:pt>
    <dgm:pt modelId="{C3A4B559-0C6C-4E1E-B8FE-059F3D8955B6}" type="parTrans" cxnId="{FB33A385-9C53-44A6-845F-4FB7343FB550}">
      <dgm:prSet/>
      <dgm:spPr/>
      <dgm:t>
        <a:bodyPr/>
        <a:lstStyle/>
        <a:p>
          <a:endParaRPr lang="en-US"/>
        </a:p>
      </dgm:t>
    </dgm:pt>
    <dgm:pt modelId="{DB1DCF54-CD59-483A-A2F3-E6AD59320DC3}" type="sibTrans" cxnId="{FB33A385-9C53-44A6-845F-4FB7343FB550}">
      <dgm:prSet/>
      <dgm:spPr/>
      <dgm:t>
        <a:bodyPr/>
        <a:lstStyle/>
        <a:p>
          <a:endParaRPr lang="en-US"/>
        </a:p>
      </dgm:t>
    </dgm:pt>
    <dgm:pt modelId="{8DE6AA09-1779-476E-893C-3486FCD1FB59}">
      <dgm:prSet/>
      <dgm:spPr/>
      <dgm:t>
        <a:bodyPr/>
        <a:lstStyle/>
        <a:p>
          <a:r>
            <a:rPr lang="fr-FR" b="0" i="0" baseline="0"/>
            <a:t>Il permet d’identifier les pays les plus vulnérables grâce à des indicateurs croisés : accès à l’eau, stabilité politique, mortalité, urbanisation, qualité des infrastructures.</a:t>
          </a:r>
          <a:endParaRPr lang="en-US"/>
        </a:p>
      </dgm:t>
    </dgm:pt>
    <dgm:pt modelId="{8C19E96C-2C65-47D6-85D0-6BB5C90402AC}" type="parTrans" cxnId="{89651458-C8A5-4E48-92C4-F698D73FDF20}">
      <dgm:prSet/>
      <dgm:spPr/>
      <dgm:t>
        <a:bodyPr/>
        <a:lstStyle/>
        <a:p>
          <a:endParaRPr lang="en-US"/>
        </a:p>
      </dgm:t>
    </dgm:pt>
    <dgm:pt modelId="{CA2FFC57-778F-42D9-A6E7-96E393BCBA5F}" type="sibTrans" cxnId="{89651458-C8A5-4E48-92C4-F698D73FDF20}">
      <dgm:prSet/>
      <dgm:spPr/>
      <dgm:t>
        <a:bodyPr/>
        <a:lstStyle/>
        <a:p>
          <a:endParaRPr lang="en-US"/>
        </a:p>
      </dgm:t>
    </dgm:pt>
    <dgm:pt modelId="{D3EB1837-CD13-4135-8639-B5D736252A86}">
      <dgm:prSet/>
      <dgm:spPr/>
      <dgm:t>
        <a:bodyPr/>
        <a:lstStyle/>
        <a:p>
          <a:r>
            <a:rPr lang="fr-FR" b="0" i="0" baseline="0"/>
            <a:t>Les trois domaines d’expertise de DWFA (création, modernisation, consulting) sont couverts via des visuels dédiés et interactifs.</a:t>
          </a:r>
          <a:endParaRPr lang="en-US"/>
        </a:p>
      </dgm:t>
    </dgm:pt>
    <dgm:pt modelId="{815FF7BD-4936-4DC0-8DD1-48DC1ECB6D4B}" type="parTrans" cxnId="{3DCC62A4-A806-4515-A79E-D5F7F4611EEE}">
      <dgm:prSet/>
      <dgm:spPr/>
      <dgm:t>
        <a:bodyPr/>
        <a:lstStyle/>
        <a:p>
          <a:endParaRPr lang="en-US"/>
        </a:p>
      </dgm:t>
    </dgm:pt>
    <dgm:pt modelId="{6EC37C49-29D1-4BEC-9FE5-BF47A48068B1}" type="sibTrans" cxnId="{3DCC62A4-A806-4515-A79E-D5F7F4611EEE}">
      <dgm:prSet/>
      <dgm:spPr/>
      <dgm:t>
        <a:bodyPr/>
        <a:lstStyle/>
        <a:p>
          <a:endParaRPr lang="en-US"/>
        </a:p>
      </dgm:t>
    </dgm:pt>
    <dgm:pt modelId="{B98E3C0B-86BE-49DA-9633-CD553C7B7E4F}">
      <dgm:prSet/>
      <dgm:spPr/>
      <dgm:t>
        <a:bodyPr/>
        <a:lstStyle/>
        <a:p>
          <a:r>
            <a:rPr lang="fr-FR" b="0" i="0" baseline="0"/>
            <a:t>L’utilisateur peut filtrer les données par année, continent, pays ou niveau de stabilité.</a:t>
          </a:r>
          <a:endParaRPr lang="en-US"/>
        </a:p>
      </dgm:t>
    </dgm:pt>
    <dgm:pt modelId="{67116300-FB08-46A1-A395-02B0F4762750}" type="parTrans" cxnId="{C69A7D67-AB4E-49A2-A3E8-1A2AD1EC5B33}">
      <dgm:prSet/>
      <dgm:spPr/>
      <dgm:t>
        <a:bodyPr/>
        <a:lstStyle/>
        <a:p>
          <a:endParaRPr lang="en-US"/>
        </a:p>
      </dgm:t>
    </dgm:pt>
    <dgm:pt modelId="{10C57999-DED5-440F-8682-EDB2B10F2B9F}" type="sibTrans" cxnId="{C69A7D67-AB4E-49A2-A3E8-1A2AD1EC5B33}">
      <dgm:prSet/>
      <dgm:spPr/>
      <dgm:t>
        <a:bodyPr/>
        <a:lstStyle/>
        <a:p>
          <a:endParaRPr lang="en-US"/>
        </a:p>
      </dgm:t>
    </dgm:pt>
    <dgm:pt modelId="{3009D3EB-B063-4916-8067-B273DBE8520F}">
      <dgm:prSet/>
      <dgm:spPr/>
      <dgm:t>
        <a:bodyPr/>
        <a:lstStyle/>
        <a:p>
          <a:r>
            <a:rPr lang="fr-FR" b="0" i="0" baseline="0"/>
            <a:t>L’outil facilite le ciblage des interventions et l’optimisation des ressources selon les besoins locaux.</a:t>
          </a:r>
          <a:endParaRPr lang="en-US"/>
        </a:p>
      </dgm:t>
    </dgm:pt>
    <dgm:pt modelId="{ABCC816A-803B-4EF0-ACBA-DB9CDDCD40DD}" type="parTrans" cxnId="{8BAE1B6C-41A9-4C3D-836B-7254A8A07BE6}">
      <dgm:prSet/>
      <dgm:spPr/>
      <dgm:t>
        <a:bodyPr/>
        <a:lstStyle/>
        <a:p>
          <a:endParaRPr lang="en-US"/>
        </a:p>
      </dgm:t>
    </dgm:pt>
    <dgm:pt modelId="{3CCFA2C1-735D-467E-9B45-58B0E54C3100}" type="sibTrans" cxnId="{8BAE1B6C-41A9-4C3D-836B-7254A8A07BE6}">
      <dgm:prSet/>
      <dgm:spPr/>
      <dgm:t>
        <a:bodyPr/>
        <a:lstStyle/>
        <a:p>
          <a:endParaRPr lang="en-US"/>
        </a:p>
      </dgm:t>
    </dgm:pt>
    <dgm:pt modelId="{85565B3D-0FC3-4F66-A9D0-B6DF3CA281C8}" type="pres">
      <dgm:prSet presAssocID="{148E841A-76B5-48EA-BFD3-35112954A23D}" presName="outerComposite" presStyleCnt="0">
        <dgm:presLayoutVars>
          <dgm:chMax val="5"/>
          <dgm:dir/>
          <dgm:resizeHandles val="exact"/>
        </dgm:presLayoutVars>
      </dgm:prSet>
      <dgm:spPr/>
    </dgm:pt>
    <dgm:pt modelId="{CE79CDE9-D735-48B4-9FF7-33B7AA10200C}" type="pres">
      <dgm:prSet presAssocID="{148E841A-76B5-48EA-BFD3-35112954A23D}" presName="dummyMaxCanvas" presStyleCnt="0">
        <dgm:presLayoutVars/>
      </dgm:prSet>
      <dgm:spPr/>
    </dgm:pt>
    <dgm:pt modelId="{3D940A9D-8448-46B9-A89E-0B82BE15ECDC}" type="pres">
      <dgm:prSet presAssocID="{148E841A-76B5-48EA-BFD3-35112954A23D}" presName="FiveNodes_1" presStyleLbl="node1" presStyleIdx="0" presStyleCnt="5">
        <dgm:presLayoutVars>
          <dgm:bulletEnabled val="1"/>
        </dgm:presLayoutVars>
      </dgm:prSet>
      <dgm:spPr/>
    </dgm:pt>
    <dgm:pt modelId="{AD142E93-7914-49C5-8DDC-1783A8124D3D}" type="pres">
      <dgm:prSet presAssocID="{148E841A-76B5-48EA-BFD3-35112954A23D}" presName="FiveNodes_2" presStyleLbl="node1" presStyleIdx="1" presStyleCnt="5">
        <dgm:presLayoutVars>
          <dgm:bulletEnabled val="1"/>
        </dgm:presLayoutVars>
      </dgm:prSet>
      <dgm:spPr/>
    </dgm:pt>
    <dgm:pt modelId="{82FE3C6A-1C57-4DB1-A2D1-A02B331F9462}" type="pres">
      <dgm:prSet presAssocID="{148E841A-76B5-48EA-BFD3-35112954A23D}" presName="FiveNodes_3" presStyleLbl="node1" presStyleIdx="2" presStyleCnt="5">
        <dgm:presLayoutVars>
          <dgm:bulletEnabled val="1"/>
        </dgm:presLayoutVars>
      </dgm:prSet>
      <dgm:spPr/>
    </dgm:pt>
    <dgm:pt modelId="{01A0CC35-0D78-4942-B7BF-513515CC9731}" type="pres">
      <dgm:prSet presAssocID="{148E841A-76B5-48EA-BFD3-35112954A23D}" presName="FiveNodes_4" presStyleLbl="node1" presStyleIdx="3" presStyleCnt="5">
        <dgm:presLayoutVars>
          <dgm:bulletEnabled val="1"/>
        </dgm:presLayoutVars>
      </dgm:prSet>
      <dgm:spPr/>
    </dgm:pt>
    <dgm:pt modelId="{89E4D08D-1AE4-451D-84B8-67BD4EB4D940}" type="pres">
      <dgm:prSet presAssocID="{148E841A-76B5-48EA-BFD3-35112954A23D}" presName="FiveNodes_5" presStyleLbl="node1" presStyleIdx="4" presStyleCnt="5">
        <dgm:presLayoutVars>
          <dgm:bulletEnabled val="1"/>
        </dgm:presLayoutVars>
      </dgm:prSet>
      <dgm:spPr/>
    </dgm:pt>
    <dgm:pt modelId="{76024082-CDCD-47AD-9C88-8D8D7F6D46D3}" type="pres">
      <dgm:prSet presAssocID="{148E841A-76B5-48EA-BFD3-35112954A23D}" presName="FiveConn_1-2" presStyleLbl="fgAccFollowNode1" presStyleIdx="0" presStyleCnt="4">
        <dgm:presLayoutVars>
          <dgm:bulletEnabled val="1"/>
        </dgm:presLayoutVars>
      </dgm:prSet>
      <dgm:spPr/>
    </dgm:pt>
    <dgm:pt modelId="{86FECB2F-208A-4A1C-91D2-63AE35BF9076}" type="pres">
      <dgm:prSet presAssocID="{148E841A-76B5-48EA-BFD3-35112954A23D}" presName="FiveConn_2-3" presStyleLbl="fgAccFollowNode1" presStyleIdx="1" presStyleCnt="4">
        <dgm:presLayoutVars>
          <dgm:bulletEnabled val="1"/>
        </dgm:presLayoutVars>
      </dgm:prSet>
      <dgm:spPr/>
    </dgm:pt>
    <dgm:pt modelId="{95B40C2A-DFF4-40DC-9A8B-63A9321B6C72}" type="pres">
      <dgm:prSet presAssocID="{148E841A-76B5-48EA-BFD3-35112954A23D}" presName="FiveConn_3-4" presStyleLbl="fgAccFollowNode1" presStyleIdx="2" presStyleCnt="4">
        <dgm:presLayoutVars>
          <dgm:bulletEnabled val="1"/>
        </dgm:presLayoutVars>
      </dgm:prSet>
      <dgm:spPr/>
    </dgm:pt>
    <dgm:pt modelId="{53711CC6-5320-460A-A3F0-6C51E128089B}" type="pres">
      <dgm:prSet presAssocID="{148E841A-76B5-48EA-BFD3-35112954A23D}" presName="FiveConn_4-5" presStyleLbl="fgAccFollowNode1" presStyleIdx="3" presStyleCnt="4">
        <dgm:presLayoutVars>
          <dgm:bulletEnabled val="1"/>
        </dgm:presLayoutVars>
      </dgm:prSet>
      <dgm:spPr/>
    </dgm:pt>
    <dgm:pt modelId="{2397E76B-451A-44C1-89BD-593E2C2852F4}" type="pres">
      <dgm:prSet presAssocID="{148E841A-76B5-48EA-BFD3-35112954A23D}" presName="FiveNodes_1_text" presStyleLbl="node1" presStyleIdx="4" presStyleCnt="5">
        <dgm:presLayoutVars>
          <dgm:bulletEnabled val="1"/>
        </dgm:presLayoutVars>
      </dgm:prSet>
      <dgm:spPr/>
    </dgm:pt>
    <dgm:pt modelId="{B9E84910-2402-4A8A-A169-AA553F134451}" type="pres">
      <dgm:prSet presAssocID="{148E841A-76B5-48EA-BFD3-35112954A23D}" presName="FiveNodes_2_text" presStyleLbl="node1" presStyleIdx="4" presStyleCnt="5">
        <dgm:presLayoutVars>
          <dgm:bulletEnabled val="1"/>
        </dgm:presLayoutVars>
      </dgm:prSet>
      <dgm:spPr/>
    </dgm:pt>
    <dgm:pt modelId="{ED33D360-3661-40A0-B73C-2A9C4C6AFA77}" type="pres">
      <dgm:prSet presAssocID="{148E841A-76B5-48EA-BFD3-35112954A23D}" presName="FiveNodes_3_text" presStyleLbl="node1" presStyleIdx="4" presStyleCnt="5">
        <dgm:presLayoutVars>
          <dgm:bulletEnabled val="1"/>
        </dgm:presLayoutVars>
      </dgm:prSet>
      <dgm:spPr/>
    </dgm:pt>
    <dgm:pt modelId="{2403851B-B47B-40FE-8295-E7BEAA56BEAD}" type="pres">
      <dgm:prSet presAssocID="{148E841A-76B5-48EA-BFD3-35112954A23D}" presName="FiveNodes_4_text" presStyleLbl="node1" presStyleIdx="4" presStyleCnt="5">
        <dgm:presLayoutVars>
          <dgm:bulletEnabled val="1"/>
        </dgm:presLayoutVars>
      </dgm:prSet>
      <dgm:spPr/>
    </dgm:pt>
    <dgm:pt modelId="{F4DD1CF7-59D0-42DA-894B-6FD76734397E}" type="pres">
      <dgm:prSet presAssocID="{148E841A-76B5-48EA-BFD3-35112954A23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4A45909-22CB-4A72-A236-99606BC03CB1}" type="presOf" srcId="{B98E3C0B-86BE-49DA-9633-CD553C7B7E4F}" destId="{2403851B-B47B-40FE-8295-E7BEAA56BEAD}" srcOrd="1" destOrd="0" presId="urn:microsoft.com/office/officeart/2005/8/layout/vProcess5"/>
    <dgm:cxn modelId="{53DDC514-1ABC-4652-B646-93DF9D5EA0B5}" type="presOf" srcId="{CA2FFC57-778F-42D9-A6E7-96E393BCBA5F}" destId="{86FECB2F-208A-4A1C-91D2-63AE35BF9076}" srcOrd="0" destOrd="0" presId="urn:microsoft.com/office/officeart/2005/8/layout/vProcess5"/>
    <dgm:cxn modelId="{2DCD5B33-D8ED-46CC-B9D4-5B213E6A5DB1}" type="presOf" srcId="{DB1DCF54-CD59-483A-A2F3-E6AD59320DC3}" destId="{76024082-CDCD-47AD-9C88-8D8D7F6D46D3}" srcOrd="0" destOrd="0" presId="urn:microsoft.com/office/officeart/2005/8/layout/vProcess5"/>
    <dgm:cxn modelId="{0A667C40-DE6D-47E7-9726-C34615B02C96}" type="presOf" srcId="{148E841A-76B5-48EA-BFD3-35112954A23D}" destId="{85565B3D-0FC3-4F66-A9D0-B6DF3CA281C8}" srcOrd="0" destOrd="0" presId="urn:microsoft.com/office/officeart/2005/8/layout/vProcess5"/>
    <dgm:cxn modelId="{82E08B61-16E0-4BC1-B67E-289A19D539B3}" type="presOf" srcId="{D3EB1837-CD13-4135-8639-B5D736252A86}" destId="{ED33D360-3661-40A0-B73C-2A9C4C6AFA77}" srcOrd="1" destOrd="0" presId="urn:microsoft.com/office/officeart/2005/8/layout/vProcess5"/>
    <dgm:cxn modelId="{D189F743-F68C-4DC8-A6BA-616E5BC6B7CB}" type="presOf" srcId="{B98E3C0B-86BE-49DA-9633-CD553C7B7E4F}" destId="{01A0CC35-0D78-4942-B7BF-513515CC9731}" srcOrd="0" destOrd="0" presId="urn:microsoft.com/office/officeart/2005/8/layout/vProcess5"/>
    <dgm:cxn modelId="{D7811364-9FF5-4D24-B39A-AB72D0F62E79}" type="presOf" srcId="{17935220-F1C5-4A59-9AC8-8367E3DA880A}" destId="{3D940A9D-8448-46B9-A89E-0B82BE15ECDC}" srcOrd="0" destOrd="0" presId="urn:microsoft.com/office/officeart/2005/8/layout/vProcess5"/>
    <dgm:cxn modelId="{C69A7D67-AB4E-49A2-A3E8-1A2AD1EC5B33}" srcId="{148E841A-76B5-48EA-BFD3-35112954A23D}" destId="{B98E3C0B-86BE-49DA-9633-CD553C7B7E4F}" srcOrd="3" destOrd="0" parTransId="{67116300-FB08-46A1-A395-02B0F4762750}" sibTransId="{10C57999-DED5-440F-8682-EDB2B10F2B9F}"/>
    <dgm:cxn modelId="{8BAE1B6C-41A9-4C3D-836B-7254A8A07BE6}" srcId="{148E841A-76B5-48EA-BFD3-35112954A23D}" destId="{3009D3EB-B063-4916-8067-B273DBE8520F}" srcOrd="4" destOrd="0" parTransId="{ABCC816A-803B-4EF0-ACBA-DB9CDDCD40DD}" sibTransId="{3CCFA2C1-735D-467E-9B45-58B0E54C3100}"/>
    <dgm:cxn modelId="{89651458-C8A5-4E48-92C4-F698D73FDF20}" srcId="{148E841A-76B5-48EA-BFD3-35112954A23D}" destId="{8DE6AA09-1779-476E-893C-3486FCD1FB59}" srcOrd="1" destOrd="0" parTransId="{8C19E96C-2C65-47D6-85D0-6BB5C90402AC}" sibTransId="{CA2FFC57-778F-42D9-A6E7-96E393BCBA5F}"/>
    <dgm:cxn modelId="{6E355A7A-6E02-4E31-A4E9-41C867C416D6}" type="presOf" srcId="{10C57999-DED5-440F-8682-EDB2B10F2B9F}" destId="{53711CC6-5320-460A-A3F0-6C51E128089B}" srcOrd="0" destOrd="0" presId="urn:microsoft.com/office/officeart/2005/8/layout/vProcess5"/>
    <dgm:cxn modelId="{F208B97F-E529-4BCF-AB15-079A34E30EC8}" type="presOf" srcId="{D3EB1837-CD13-4135-8639-B5D736252A86}" destId="{82FE3C6A-1C57-4DB1-A2D1-A02B331F9462}" srcOrd="0" destOrd="0" presId="urn:microsoft.com/office/officeart/2005/8/layout/vProcess5"/>
    <dgm:cxn modelId="{FB33A385-9C53-44A6-845F-4FB7343FB550}" srcId="{148E841A-76B5-48EA-BFD3-35112954A23D}" destId="{17935220-F1C5-4A59-9AC8-8367E3DA880A}" srcOrd="0" destOrd="0" parTransId="{C3A4B559-0C6C-4E1E-B8FE-059F3D8955B6}" sibTransId="{DB1DCF54-CD59-483A-A2F3-E6AD59320DC3}"/>
    <dgm:cxn modelId="{C77F8594-4071-4392-8534-4CB6DE4DF00F}" type="presOf" srcId="{8DE6AA09-1779-476E-893C-3486FCD1FB59}" destId="{AD142E93-7914-49C5-8DDC-1783A8124D3D}" srcOrd="0" destOrd="0" presId="urn:microsoft.com/office/officeart/2005/8/layout/vProcess5"/>
    <dgm:cxn modelId="{3DCC62A4-A806-4515-A79E-D5F7F4611EEE}" srcId="{148E841A-76B5-48EA-BFD3-35112954A23D}" destId="{D3EB1837-CD13-4135-8639-B5D736252A86}" srcOrd="2" destOrd="0" parTransId="{815FF7BD-4936-4DC0-8DD1-48DC1ECB6D4B}" sibTransId="{6EC37C49-29D1-4BEC-9FE5-BF47A48068B1}"/>
    <dgm:cxn modelId="{0B52E6B0-4844-41E4-B989-4CA0196DA4F3}" type="presOf" srcId="{3009D3EB-B063-4916-8067-B273DBE8520F}" destId="{89E4D08D-1AE4-451D-84B8-67BD4EB4D940}" srcOrd="0" destOrd="0" presId="urn:microsoft.com/office/officeart/2005/8/layout/vProcess5"/>
    <dgm:cxn modelId="{51727BB8-4669-494C-AE03-E7C2F9DA1748}" type="presOf" srcId="{6EC37C49-29D1-4BEC-9FE5-BF47A48068B1}" destId="{95B40C2A-DFF4-40DC-9A8B-63A9321B6C72}" srcOrd="0" destOrd="0" presId="urn:microsoft.com/office/officeart/2005/8/layout/vProcess5"/>
    <dgm:cxn modelId="{A43256EA-D5F0-487F-8413-8DC7CAA9F216}" type="presOf" srcId="{3009D3EB-B063-4916-8067-B273DBE8520F}" destId="{F4DD1CF7-59D0-42DA-894B-6FD76734397E}" srcOrd="1" destOrd="0" presId="urn:microsoft.com/office/officeart/2005/8/layout/vProcess5"/>
    <dgm:cxn modelId="{303ABFF5-A835-478D-8524-0419D58A03B4}" type="presOf" srcId="{17935220-F1C5-4A59-9AC8-8367E3DA880A}" destId="{2397E76B-451A-44C1-89BD-593E2C2852F4}" srcOrd="1" destOrd="0" presId="urn:microsoft.com/office/officeart/2005/8/layout/vProcess5"/>
    <dgm:cxn modelId="{1DD665FB-FED3-4C80-B17E-0DEF57C3FEB7}" type="presOf" srcId="{8DE6AA09-1779-476E-893C-3486FCD1FB59}" destId="{B9E84910-2402-4A8A-A169-AA553F134451}" srcOrd="1" destOrd="0" presId="urn:microsoft.com/office/officeart/2005/8/layout/vProcess5"/>
    <dgm:cxn modelId="{B84C86AE-6CD8-4E87-BB8F-93B5125F6CFD}" type="presParOf" srcId="{85565B3D-0FC3-4F66-A9D0-B6DF3CA281C8}" destId="{CE79CDE9-D735-48B4-9FF7-33B7AA10200C}" srcOrd="0" destOrd="0" presId="urn:microsoft.com/office/officeart/2005/8/layout/vProcess5"/>
    <dgm:cxn modelId="{2008C196-CA4F-49CD-BF75-389BE0A991C7}" type="presParOf" srcId="{85565B3D-0FC3-4F66-A9D0-B6DF3CA281C8}" destId="{3D940A9D-8448-46B9-A89E-0B82BE15ECDC}" srcOrd="1" destOrd="0" presId="urn:microsoft.com/office/officeart/2005/8/layout/vProcess5"/>
    <dgm:cxn modelId="{86360380-5715-400E-BCA7-81544C7A83AF}" type="presParOf" srcId="{85565B3D-0FC3-4F66-A9D0-B6DF3CA281C8}" destId="{AD142E93-7914-49C5-8DDC-1783A8124D3D}" srcOrd="2" destOrd="0" presId="urn:microsoft.com/office/officeart/2005/8/layout/vProcess5"/>
    <dgm:cxn modelId="{58A1B031-A7B6-431C-8B41-64D61DF780EF}" type="presParOf" srcId="{85565B3D-0FC3-4F66-A9D0-B6DF3CA281C8}" destId="{82FE3C6A-1C57-4DB1-A2D1-A02B331F9462}" srcOrd="3" destOrd="0" presId="urn:microsoft.com/office/officeart/2005/8/layout/vProcess5"/>
    <dgm:cxn modelId="{401A2F2F-AA77-4746-A5CC-B81063EC661C}" type="presParOf" srcId="{85565B3D-0FC3-4F66-A9D0-B6DF3CA281C8}" destId="{01A0CC35-0D78-4942-B7BF-513515CC9731}" srcOrd="4" destOrd="0" presId="urn:microsoft.com/office/officeart/2005/8/layout/vProcess5"/>
    <dgm:cxn modelId="{E04CBFED-C8F9-412D-B601-1C056B79C9B8}" type="presParOf" srcId="{85565B3D-0FC3-4F66-A9D0-B6DF3CA281C8}" destId="{89E4D08D-1AE4-451D-84B8-67BD4EB4D940}" srcOrd="5" destOrd="0" presId="urn:microsoft.com/office/officeart/2005/8/layout/vProcess5"/>
    <dgm:cxn modelId="{95BD350F-789D-4F92-B0EC-E6CFB4C83F63}" type="presParOf" srcId="{85565B3D-0FC3-4F66-A9D0-B6DF3CA281C8}" destId="{76024082-CDCD-47AD-9C88-8D8D7F6D46D3}" srcOrd="6" destOrd="0" presId="urn:microsoft.com/office/officeart/2005/8/layout/vProcess5"/>
    <dgm:cxn modelId="{F4B722AC-2B30-4666-A8D8-9742EAD87CF1}" type="presParOf" srcId="{85565B3D-0FC3-4F66-A9D0-B6DF3CA281C8}" destId="{86FECB2F-208A-4A1C-91D2-63AE35BF9076}" srcOrd="7" destOrd="0" presId="urn:microsoft.com/office/officeart/2005/8/layout/vProcess5"/>
    <dgm:cxn modelId="{8B509A22-B77A-477F-A610-CE37DDCF7935}" type="presParOf" srcId="{85565B3D-0FC3-4F66-A9D0-B6DF3CA281C8}" destId="{95B40C2A-DFF4-40DC-9A8B-63A9321B6C72}" srcOrd="8" destOrd="0" presId="urn:microsoft.com/office/officeart/2005/8/layout/vProcess5"/>
    <dgm:cxn modelId="{8A6E5CA5-5D05-4648-9E7A-AAA598327568}" type="presParOf" srcId="{85565B3D-0FC3-4F66-A9D0-B6DF3CA281C8}" destId="{53711CC6-5320-460A-A3F0-6C51E128089B}" srcOrd="9" destOrd="0" presId="urn:microsoft.com/office/officeart/2005/8/layout/vProcess5"/>
    <dgm:cxn modelId="{2DA86576-31D4-4B29-9096-327C6BC19043}" type="presParOf" srcId="{85565B3D-0FC3-4F66-A9D0-B6DF3CA281C8}" destId="{2397E76B-451A-44C1-89BD-593E2C2852F4}" srcOrd="10" destOrd="0" presId="urn:microsoft.com/office/officeart/2005/8/layout/vProcess5"/>
    <dgm:cxn modelId="{23AC45B0-F095-4F2C-9ED7-CD4088A89474}" type="presParOf" srcId="{85565B3D-0FC3-4F66-A9D0-B6DF3CA281C8}" destId="{B9E84910-2402-4A8A-A169-AA553F134451}" srcOrd="11" destOrd="0" presId="urn:microsoft.com/office/officeart/2005/8/layout/vProcess5"/>
    <dgm:cxn modelId="{4DCFD639-3CF0-4891-A302-B62F4ED8AB21}" type="presParOf" srcId="{85565B3D-0FC3-4F66-A9D0-B6DF3CA281C8}" destId="{ED33D360-3661-40A0-B73C-2A9C4C6AFA77}" srcOrd="12" destOrd="0" presId="urn:microsoft.com/office/officeart/2005/8/layout/vProcess5"/>
    <dgm:cxn modelId="{4599F7B2-F6B5-407D-9860-726C719E48B8}" type="presParOf" srcId="{85565B3D-0FC3-4F66-A9D0-B6DF3CA281C8}" destId="{2403851B-B47B-40FE-8295-E7BEAA56BEAD}" srcOrd="13" destOrd="0" presId="urn:microsoft.com/office/officeart/2005/8/layout/vProcess5"/>
    <dgm:cxn modelId="{6A02AD4D-F75C-4CCB-B8F7-E8F295269D35}" type="presParOf" srcId="{85565B3D-0FC3-4F66-A9D0-B6DF3CA281C8}" destId="{F4DD1CF7-59D0-42DA-894B-6FD76734397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C3CE7-0098-4E78-9B9F-3E05294F938D}">
      <dsp:nvSpPr>
        <dsp:cNvPr id="0" name=""/>
        <dsp:cNvSpPr/>
      </dsp:nvSpPr>
      <dsp:spPr>
        <a:xfrm>
          <a:off x="4442" y="154177"/>
          <a:ext cx="1327725" cy="7966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/>
            <a:t>Préparation des données</a:t>
          </a:r>
          <a:br>
            <a:rPr lang="fr-FR" sz="1000" kern="1200" dirty="0"/>
          </a:br>
          <a:r>
            <a:rPr lang="fr-FR" sz="1000" i="1" kern="1200" dirty="0"/>
            <a:t>Nettoyage, transformation et uniformisation</a:t>
          </a:r>
          <a:endParaRPr lang="en-US" sz="1000" kern="1200" dirty="0"/>
        </a:p>
      </dsp:txBody>
      <dsp:txXfrm>
        <a:off x="27775" y="177510"/>
        <a:ext cx="1281059" cy="749969"/>
      </dsp:txXfrm>
    </dsp:sp>
    <dsp:sp modelId="{AA93E56E-BABB-454C-8421-915652B8D56D}">
      <dsp:nvSpPr>
        <dsp:cNvPr id="0" name=""/>
        <dsp:cNvSpPr/>
      </dsp:nvSpPr>
      <dsp:spPr>
        <a:xfrm>
          <a:off x="1449008" y="387857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9008" y="453712"/>
        <a:ext cx="197034" cy="197566"/>
      </dsp:txXfrm>
    </dsp:sp>
    <dsp:sp modelId="{2A3E998C-9065-4B3F-B9A1-E5FC723266A8}">
      <dsp:nvSpPr>
        <dsp:cNvPr id="0" name=""/>
        <dsp:cNvSpPr/>
      </dsp:nvSpPr>
      <dsp:spPr>
        <a:xfrm>
          <a:off x="1863258" y="154177"/>
          <a:ext cx="1327725" cy="7966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Importation de 6 fichiers sources hétérogènes (Excel, CSV)</a:t>
          </a:r>
          <a:endParaRPr lang="en-US" sz="1000" kern="1200" dirty="0"/>
        </a:p>
      </dsp:txBody>
      <dsp:txXfrm>
        <a:off x="1886591" y="177510"/>
        <a:ext cx="1281059" cy="749969"/>
      </dsp:txXfrm>
    </dsp:sp>
    <dsp:sp modelId="{36B46B39-14AC-4076-B883-61162DAA6EE6}">
      <dsp:nvSpPr>
        <dsp:cNvPr id="0" name=""/>
        <dsp:cNvSpPr/>
      </dsp:nvSpPr>
      <dsp:spPr>
        <a:xfrm>
          <a:off x="3307824" y="387857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307824" y="453712"/>
        <a:ext cx="197034" cy="197566"/>
      </dsp:txXfrm>
    </dsp:sp>
    <dsp:sp modelId="{B7956BA4-F3D2-44C9-BA00-B29E6D716E01}">
      <dsp:nvSpPr>
        <dsp:cNvPr id="0" name=""/>
        <dsp:cNvSpPr/>
      </dsp:nvSpPr>
      <dsp:spPr>
        <a:xfrm>
          <a:off x="3722074" y="154177"/>
          <a:ext cx="1327725" cy="7966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Création d’une clé primaire avec le pays et l’année</a:t>
          </a:r>
          <a:endParaRPr lang="en-US" sz="1000" kern="1200" dirty="0"/>
        </a:p>
      </dsp:txBody>
      <dsp:txXfrm>
        <a:off x="3745407" y="177510"/>
        <a:ext cx="1281059" cy="749969"/>
      </dsp:txXfrm>
    </dsp:sp>
    <dsp:sp modelId="{A60A033B-0281-4F28-AB60-35EA3E9B3D3C}">
      <dsp:nvSpPr>
        <dsp:cNvPr id="0" name=""/>
        <dsp:cNvSpPr/>
      </dsp:nvSpPr>
      <dsp:spPr>
        <a:xfrm rot="5400000">
          <a:off x="4245198" y="1043753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287154" y="1067653"/>
        <a:ext cx="197566" cy="197034"/>
      </dsp:txXfrm>
    </dsp:sp>
    <dsp:sp modelId="{9BFF89BF-1258-4AAE-847E-6E8D8C3CF623}">
      <dsp:nvSpPr>
        <dsp:cNvPr id="0" name=""/>
        <dsp:cNvSpPr/>
      </dsp:nvSpPr>
      <dsp:spPr>
        <a:xfrm>
          <a:off x="3722074" y="1481903"/>
          <a:ext cx="1327725" cy="7966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Nettoyage des colonnes contenant des séparateurs de milliers mal interprétés</a:t>
          </a:r>
          <a:endParaRPr lang="en-US" sz="1000" kern="1200" dirty="0"/>
        </a:p>
      </dsp:txBody>
      <dsp:txXfrm>
        <a:off x="3745407" y="1505236"/>
        <a:ext cx="1281059" cy="749969"/>
      </dsp:txXfrm>
    </dsp:sp>
    <dsp:sp modelId="{C318D6CC-6622-47E3-91AF-238963840CF3}">
      <dsp:nvSpPr>
        <dsp:cNvPr id="0" name=""/>
        <dsp:cNvSpPr/>
      </dsp:nvSpPr>
      <dsp:spPr>
        <a:xfrm rot="10800000">
          <a:off x="3323757" y="1715582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408200" y="1781437"/>
        <a:ext cx="197034" cy="197566"/>
      </dsp:txXfrm>
    </dsp:sp>
    <dsp:sp modelId="{D4DB2811-A35A-41F2-9A2D-81A59A52EE6A}">
      <dsp:nvSpPr>
        <dsp:cNvPr id="0" name=""/>
        <dsp:cNvSpPr/>
      </dsp:nvSpPr>
      <dsp:spPr>
        <a:xfrm>
          <a:off x="1863258" y="1481903"/>
          <a:ext cx="1327725" cy="79663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Uniformisation des types (dates, numériques, chaînes)</a:t>
          </a:r>
          <a:endParaRPr lang="en-US" sz="1000" kern="1200" dirty="0"/>
        </a:p>
      </dsp:txBody>
      <dsp:txXfrm>
        <a:off x="1886591" y="1505236"/>
        <a:ext cx="1281059" cy="749969"/>
      </dsp:txXfrm>
    </dsp:sp>
    <dsp:sp modelId="{5F369EA5-D85E-4E11-B1AE-F87D2006B498}">
      <dsp:nvSpPr>
        <dsp:cNvPr id="0" name=""/>
        <dsp:cNvSpPr/>
      </dsp:nvSpPr>
      <dsp:spPr>
        <a:xfrm rot="10800000">
          <a:off x="1464940" y="1715582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1549383" y="1781437"/>
        <a:ext cx="197034" cy="197566"/>
      </dsp:txXfrm>
    </dsp:sp>
    <dsp:sp modelId="{A0B4F8E8-DAED-4F8E-B3A4-76F169A94A05}">
      <dsp:nvSpPr>
        <dsp:cNvPr id="0" name=""/>
        <dsp:cNvSpPr/>
      </dsp:nvSpPr>
      <dsp:spPr>
        <a:xfrm>
          <a:off x="4442" y="1481903"/>
          <a:ext cx="1327725" cy="7966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Suppression des lignes ou valeurs aberrantes</a:t>
          </a:r>
          <a:endParaRPr lang="en-US" sz="1000" kern="1200" dirty="0"/>
        </a:p>
      </dsp:txBody>
      <dsp:txXfrm>
        <a:off x="27775" y="1505236"/>
        <a:ext cx="1281059" cy="749969"/>
      </dsp:txXfrm>
    </dsp:sp>
    <dsp:sp modelId="{6F6B3282-2EE7-4C41-86D3-1890BDA0CA0F}">
      <dsp:nvSpPr>
        <dsp:cNvPr id="0" name=""/>
        <dsp:cNvSpPr/>
      </dsp:nvSpPr>
      <dsp:spPr>
        <a:xfrm rot="5400000">
          <a:off x="527566" y="2371479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69522" y="2395379"/>
        <a:ext cx="197566" cy="197034"/>
      </dsp:txXfrm>
    </dsp:sp>
    <dsp:sp modelId="{A3CA82CA-C604-4A50-9660-1604498AA2AE}">
      <dsp:nvSpPr>
        <dsp:cNvPr id="0" name=""/>
        <dsp:cNvSpPr/>
      </dsp:nvSpPr>
      <dsp:spPr>
        <a:xfrm>
          <a:off x="4442" y="2809629"/>
          <a:ext cx="1327725" cy="7966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Normalisation des noms de pays et continents</a:t>
          </a:r>
          <a:endParaRPr lang="en-US" sz="1000" kern="1200" dirty="0"/>
        </a:p>
      </dsp:txBody>
      <dsp:txXfrm>
        <a:off x="27775" y="2832962"/>
        <a:ext cx="1281059" cy="749969"/>
      </dsp:txXfrm>
    </dsp:sp>
    <dsp:sp modelId="{9F8F2785-8CB6-429C-AF52-7B022DD87C78}">
      <dsp:nvSpPr>
        <dsp:cNvPr id="0" name=""/>
        <dsp:cNvSpPr/>
      </dsp:nvSpPr>
      <dsp:spPr>
        <a:xfrm>
          <a:off x="1449008" y="3043308"/>
          <a:ext cx="281477" cy="329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9008" y="3109163"/>
        <a:ext cx="197034" cy="197566"/>
      </dsp:txXfrm>
    </dsp:sp>
    <dsp:sp modelId="{42B29D4A-AFBE-4BEA-9780-A75B4DD7331A}">
      <dsp:nvSpPr>
        <dsp:cNvPr id="0" name=""/>
        <dsp:cNvSpPr/>
      </dsp:nvSpPr>
      <dsp:spPr>
        <a:xfrm>
          <a:off x="1863258" y="2809629"/>
          <a:ext cx="1327725" cy="7966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Arrondi et homogénéisation des unités (milliers, millions)</a:t>
          </a:r>
          <a:endParaRPr lang="en-US" sz="1000" kern="1200" dirty="0"/>
        </a:p>
      </dsp:txBody>
      <dsp:txXfrm>
        <a:off x="1886591" y="2832962"/>
        <a:ext cx="1281059" cy="7499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40A9D-8448-46B9-A89E-0B82BE15ECDC}">
      <dsp:nvSpPr>
        <dsp:cNvPr id="0" name=""/>
        <dsp:cNvSpPr/>
      </dsp:nvSpPr>
      <dsp:spPr>
        <a:xfrm>
          <a:off x="0" y="0"/>
          <a:ext cx="5764002" cy="886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Le tableau de bord DWFA offre une visualisation multi-échelles (monde, continent, pays) pour suivre les enjeux liés à l’accès à l’eau potable.</a:t>
          </a:r>
          <a:endParaRPr lang="en-US" sz="1400" kern="1200"/>
        </a:p>
      </dsp:txBody>
      <dsp:txXfrm>
        <a:off x="25972" y="25972"/>
        <a:ext cx="4703395" cy="834793"/>
      </dsp:txXfrm>
    </dsp:sp>
    <dsp:sp modelId="{AD142E93-7914-49C5-8DDC-1783A8124D3D}">
      <dsp:nvSpPr>
        <dsp:cNvPr id="0" name=""/>
        <dsp:cNvSpPr/>
      </dsp:nvSpPr>
      <dsp:spPr>
        <a:xfrm>
          <a:off x="430428" y="1009895"/>
          <a:ext cx="5764002" cy="886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Il permet d’identifier les pays les plus vulnérables grâce à des indicateurs croisés : accès à l’eau, stabilité politique, mortalité, urbanisation, qualité des infrastructures.</a:t>
          </a:r>
          <a:endParaRPr lang="en-US" sz="1400" kern="1200"/>
        </a:p>
      </dsp:txBody>
      <dsp:txXfrm>
        <a:off x="456400" y="1035867"/>
        <a:ext cx="4705250" cy="834793"/>
      </dsp:txXfrm>
    </dsp:sp>
    <dsp:sp modelId="{82FE3C6A-1C57-4DB1-A2D1-A02B331F9462}">
      <dsp:nvSpPr>
        <dsp:cNvPr id="0" name=""/>
        <dsp:cNvSpPr/>
      </dsp:nvSpPr>
      <dsp:spPr>
        <a:xfrm>
          <a:off x="860857" y="2019790"/>
          <a:ext cx="5764002" cy="886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Les trois domaines d’expertise de DWFA (création, modernisation, consulting) sont couverts via des visuels dédiés et interactifs.</a:t>
          </a:r>
          <a:endParaRPr lang="en-US" sz="1400" kern="1200"/>
        </a:p>
      </dsp:txBody>
      <dsp:txXfrm>
        <a:off x="886829" y="2045762"/>
        <a:ext cx="4705250" cy="834793"/>
      </dsp:txXfrm>
    </dsp:sp>
    <dsp:sp modelId="{01A0CC35-0D78-4942-B7BF-513515CC9731}">
      <dsp:nvSpPr>
        <dsp:cNvPr id="0" name=""/>
        <dsp:cNvSpPr/>
      </dsp:nvSpPr>
      <dsp:spPr>
        <a:xfrm>
          <a:off x="1291286" y="3029685"/>
          <a:ext cx="5764002" cy="8867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L’utilisateur peut filtrer les données par année, continent, pays ou niveau de stabilité.</a:t>
          </a:r>
          <a:endParaRPr lang="en-US" sz="1400" kern="1200"/>
        </a:p>
      </dsp:txBody>
      <dsp:txXfrm>
        <a:off x="1317258" y="3055657"/>
        <a:ext cx="4705250" cy="834793"/>
      </dsp:txXfrm>
    </dsp:sp>
    <dsp:sp modelId="{89E4D08D-1AE4-451D-84B8-67BD4EB4D940}">
      <dsp:nvSpPr>
        <dsp:cNvPr id="0" name=""/>
        <dsp:cNvSpPr/>
      </dsp:nvSpPr>
      <dsp:spPr>
        <a:xfrm>
          <a:off x="1721715" y="4039580"/>
          <a:ext cx="5764002" cy="88673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baseline="0"/>
            <a:t>L’outil facilite le ciblage des interventions et l’optimisation des ressources selon les besoins locaux.</a:t>
          </a:r>
          <a:endParaRPr lang="en-US" sz="1400" kern="1200"/>
        </a:p>
      </dsp:txBody>
      <dsp:txXfrm>
        <a:off x="1747687" y="4065552"/>
        <a:ext cx="4705250" cy="834793"/>
      </dsp:txXfrm>
    </dsp:sp>
    <dsp:sp modelId="{76024082-CDCD-47AD-9C88-8D8D7F6D46D3}">
      <dsp:nvSpPr>
        <dsp:cNvPr id="0" name=""/>
        <dsp:cNvSpPr/>
      </dsp:nvSpPr>
      <dsp:spPr>
        <a:xfrm>
          <a:off x="5187623" y="647810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317308" y="647810"/>
        <a:ext cx="317009" cy="433725"/>
      </dsp:txXfrm>
    </dsp:sp>
    <dsp:sp modelId="{86FECB2F-208A-4A1C-91D2-63AE35BF9076}">
      <dsp:nvSpPr>
        <dsp:cNvPr id="0" name=""/>
        <dsp:cNvSpPr/>
      </dsp:nvSpPr>
      <dsp:spPr>
        <a:xfrm>
          <a:off x="5618052" y="1657706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47737" y="1657706"/>
        <a:ext cx="317009" cy="433725"/>
      </dsp:txXfrm>
    </dsp:sp>
    <dsp:sp modelId="{95B40C2A-DFF4-40DC-9A8B-63A9321B6C72}">
      <dsp:nvSpPr>
        <dsp:cNvPr id="0" name=""/>
        <dsp:cNvSpPr/>
      </dsp:nvSpPr>
      <dsp:spPr>
        <a:xfrm>
          <a:off x="6048481" y="2652822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78166" y="2652822"/>
        <a:ext cx="317009" cy="433725"/>
      </dsp:txXfrm>
    </dsp:sp>
    <dsp:sp modelId="{53711CC6-5320-460A-A3F0-6C51E128089B}">
      <dsp:nvSpPr>
        <dsp:cNvPr id="0" name=""/>
        <dsp:cNvSpPr/>
      </dsp:nvSpPr>
      <dsp:spPr>
        <a:xfrm>
          <a:off x="6478910" y="3672570"/>
          <a:ext cx="576379" cy="57637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608595" y="3672570"/>
        <a:ext cx="317009" cy="433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BA503-F079-4627-BA42-1AB29D26A1BB}" type="datetimeFigureOut">
              <a:rPr lang="fr-FR" smtClean="0"/>
              <a:t>13/08/2025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FAA57-078C-439C-8931-DDC73B0007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32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Bonjour, je vous présente aujourd’hui un tableau de bord interactif conçu pour l’ONG DWFA dans le cadre d’un projet visant à cartographier les enjeux d’accès à l’eau potable.</a:t>
            </a:r>
            <a:br>
              <a:rPr lang="fr-FR" dirty="0"/>
            </a:br>
            <a:r>
              <a:rPr lang="fr-FR" dirty="0"/>
              <a:t>Le besoin exprimé lors du cadrage était triple :</a:t>
            </a:r>
          </a:p>
          <a:p>
            <a:r>
              <a:rPr lang="fr-FR" dirty="0"/>
              <a:t>Fournir une vue mondiale, continentale et nationale,</a:t>
            </a:r>
          </a:p>
          <a:p>
            <a:r>
              <a:rPr lang="fr-FR" dirty="0"/>
              <a:t>Identifier les zones prioritaires selon trois axes d’intervention,</a:t>
            </a:r>
          </a:p>
          <a:p>
            <a:r>
              <a:rPr lang="fr-FR" dirty="0"/>
              <a:t>Mettre à disposition un outil accessible, interactif et adapté à différents profils utilisateurs.</a:t>
            </a:r>
          </a:p>
          <a:p>
            <a:r>
              <a:rPr lang="fr-FR" dirty="0"/>
              <a:t>Les données couvrent des indicateurs clés comme l’accès basique et sécurisé à l’eau, la stabilité politique ou encore la mortalité liée à l’eau.</a:t>
            </a:r>
          </a:p>
          <a:p>
            <a:r>
              <a:rPr lang="fr-FR" dirty="0"/>
              <a:t>Nous allons voir comment le tableau de bord permet à DWFA de cibler ses efforts efficacement.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352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étape a été cruciale pour garantir la qualité de l’analyse.</a:t>
            </a:r>
          </a:p>
          <a:p>
            <a:r>
              <a:rPr lang="fr-FR" dirty="0"/>
              <a:t>Les données m’ont été </a:t>
            </a:r>
            <a:r>
              <a:rPr lang="fr-FR" dirty="0" err="1"/>
              <a:t>founies</a:t>
            </a:r>
            <a:r>
              <a:rPr lang="fr-FR" dirty="0"/>
              <a:t> en fichiers </a:t>
            </a:r>
            <a:r>
              <a:rPr lang="fr-FR" dirty="0" err="1"/>
              <a:t>xls</a:t>
            </a:r>
            <a:r>
              <a:rPr lang="fr-FR" dirty="0"/>
              <a:t> et elles sont issues de la FAO et de l’OMS.</a:t>
            </a:r>
          </a:p>
          <a:p>
            <a:r>
              <a:rPr lang="fr-FR" dirty="0"/>
              <a:t>J’ai commencé par importer les 6 fichiers sources fournis, dont certains présentaient des incohérences de format — notamment des colonnes numériques mal interprétées à cause des séparateurs (.,)</a:t>
            </a:r>
          </a:p>
          <a:p>
            <a:r>
              <a:rPr lang="fr-FR" dirty="0"/>
              <a:t>J’ai créé une clé primaire avec le pays et l’année, afin de faire les futures jointures.</a:t>
            </a:r>
          </a:p>
          <a:p>
            <a:r>
              <a:rPr lang="fr-FR" dirty="0"/>
              <a:t>J’ai nettoyé ces colonnes via Power </a:t>
            </a:r>
            <a:r>
              <a:rPr lang="fr-FR" dirty="0" err="1"/>
              <a:t>Query</a:t>
            </a:r>
            <a:r>
              <a:rPr lang="fr-FR" dirty="0"/>
              <a:t>, uniformisé les formats, et supprimé les éventuelles doublons ou données incohérentes.</a:t>
            </a:r>
          </a:p>
          <a:p>
            <a:r>
              <a:rPr lang="fr-FR" dirty="0"/>
              <a:t>Enfin, j’ai veillé à harmoniser les noms de pays et continents pour permettre une jointure correcte avec les autres tables et un affichage fluide sur les cartes.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988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fois les données préparées, j’ai structuré le modèle en étoile avec une table de faits centrale que j’ai créé regroupant les indicateurs par pays et par année.</a:t>
            </a:r>
            <a:br>
              <a:rPr lang="fr-FR" dirty="0"/>
            </a:br>
            <a:r>
              <a:rPr lang="fr-FR" dirty="0"/>
              <a:t>Les tables de dimensions (</a:t>
            </a:r>
            <a:r>
              <a:rPr lang="fr-FR" i="1" dirty="0"/>
              <a:t>Pays</a:t>
            </a:r>
            <a:r>
              <a:rPr lang="fr-FR" dirty="0"/>
              <a:t>, </a:t>
            </a:r>
            <a:r>
              <a:rPr lang="fr-FR" i="1" dirty="0"/>
              <a:t>Régions</a:t>
            </a:r>
            <a:r>
              <a:rPr lang="fr-FR" dirty="0"/>
              <a:t>, </a:t>
            </a:r>
            <a:r>
              <a:rPr lang="fr-FR" i="1" dirty="0"/>
              <a:t>Population</a:t>
            </a:r>
            <a:r>
              <a:rPr lang="fr-FR" dirty="0"/>
              <a:t>, </a:t>
            </a:r>
            <a:r>
              <a:rPr lang="fr-FR" i="1" dirty="0"/>
              <a:t>Stabilité politique</a:t>
            </a:r>
            <a:r>
              <a:rPr lang="fr-FR" dirty="0"/>
              <a:t>, etc.) sont reliées à la table centrale par des relations en un-à-plusieurs.</a:t>
            </a:r>
          </a:p>
          <a:p>
            <a:br>
              <a:rPr lang="fr-FR" dirty="0"/>
            </a:br>
            <a:r>
              <a:rPr lang="fr-FR" dirty="0"/>
              <a:t>Pour l’axe temporel, j’ai choisi d’utiliser directement le champ </a:t>
            </a:r>
            <a:r>
              <a:rPr lang="fr-FR" i="1" dirty="0" err="1"/>
              <a:t>Year</a:t>
            </a:r>
            <a:r>
              <a:rPr lang="fr-FR" dirty="0"/>
              <a:t> présent dans la table de faits plutôt qu’une table Date séparée, car cela répondait aux besoins d’analyse sans complexité supplémentaire.</a:t>
            </a:r>
            <a:br>
              <a:rPr lang="fr-FR" dirty="0"/>
            </a:br>
            <a:r>
              <a:rPr lang="fr-FR" dirty="0"/>
              <a:t>Ce modèle garantit une bonne performance, une structure claire et une lisibilité optimale des visuels.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968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slide résume l’architecture fonctionnelle de mon tableau de bord.</a:t>
            </a:r>
            <a:br>
              <a:rPr lang="fr-FR" dirty="0"/>
            </a:br>
            <a:r>
              <a:rPr lang="fr-FR" dirty="0"/>
              <a:t>On y retrouve, pour chaque besoin utilisateur, les données mobilisées, le type de visualisation utilisé et la page concernée.</a:t>
            </a:r>
            <a:br>
              <a:rPr lang="fr-FR" dirty="0"/>
            </a:br>
            <a:r>
              <a:rPr lang="fr-FR" dirty="0"/>
              <a:t>Le tableau de bord se structure autour de trois vues principales : mondiale, continentale et nationale, déclinées selon trois domaines d’expertise de DWFA.</a:t>
            </a:r>
            <a:br>
              <a:rPr lang="fr-FR" dirty="0"/>
            </a:br>
            <a:r>
              <a:rPr lang="fr-FR" dirty="0"/>
              <a:t>Des </a:t>
            </a:r>
            <a:r>
              <a:rPr lang="fr-FR" dirty="0" err="1"/>
              <a:t>slicers</a:t>
            </a:r>
            <a:r>
              <a:rPr lang="fr-FR" dirty="0"/>
              <a:t> permettent de filtrer les visualisations par pays, par année et par stabilité politique.</a:t>
            </a:r>
            <a:br>
              <a:rPr lang="fr-FR" dirty="0"/>
            </a:br>
            <a:r>
              <a:rPr lang="fr-FR" dirty="0"/>
              <a:t>J’ai fait le choix de visualisations interactives en restant bien dans chaque niveau de visualisation, à savoir des filtres de régions dans la vue régionale, un filtre pays dans la vue nationale.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203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Ici, j’introduis une première lecture globale avec une carte du monde qui affiche le pourcentage de décès dus à l’eau insalubre en 2016. L’idée est de fournir un point de départ simple et impactant visuellement pour sensibiliser rapidement à l’ampleur du problème à l’échelle planétaire.</a:t>
            </a:r>
          </a:p>
          <a:p>
            <a:r>
              <a:rPr lang="fr-FR" dirty="0"/>
              <a:t>La carte est interactive et filtrable par année, la taille des bulles représente le % de morts liés à l’eau par rapport à la population, la couleur est liée au continent. Cela permet à l’utilisateur de suivre l’évolution dans le temps si nécessaire.</a:t>
            </a:r>
          </a:p>
          <a:p>
            <a:r>
              <a:rPr lang="fr-FR" dirty="0"/>
              <a:t>Cette vue pose le décor avant d’entrer dans des analyses plus précises dans les vues suivantes, notamment continentales ou nationales.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863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vue intermédiaire permet de zoomer sur un continent spécifique. L’objectif ici est de comparer les pays entre eux à l’échelle d’un même continent, pour comprendre comment se répartissent les risques ou les besoins en infrastructures.</a:t>
            </a:r>
          </a:p>
          <a:p>
            <a:r>
              <a:rPr lang="fr-FR" dirty="0"/>
              <a:t>On commence avec un graphique en ruban qui montre l’évolution de la population, ce qui aide à contextualiser la croissance démographique dans les zones concernées.</a:t>
            </a:r>
          </a:p>
          <a:p>
            <a:r>
              <a:rPr lang="fr-FR" dirty="0"/>
              <a:t>Le graphique en barres, lui, permet de comparer les taux de mortalité liés à l’eau d’un pays à l’autre, avec une mise en surbrillance du pays sélectionné si l’utilisateur souhaite descendre d’un niveau.</a:t>
            </a:r>
          </a:p>
          <a:p>
            <a:r>
              <a:rPr lang="fr-FR" dirty="0"/>
              <a:t>Enfin, des vignettes synthétisent des indicateurs clés. Cette vue prépare bien le terrain avant d’accéder à l’analyse au niveau national.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591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vue nationale permet une plongée dans les spécificités d’un seul pays.</a:t>
            </a:r>
          </a:p>
          <a:p>
            <a:r>
              <a:rPr lang="fr-FR" dirty="0"/>
              <a:t>On y retrouve les vignettes clés pour conserver une lecture rapide des données de mortalité, population et accès à l’eau.</a:t>
            </a:r>
          </a:p>
          <a:p>
            <a:r>
              <a:rPr lang="fr-FR" dirty="0"/>
              <a:t>Un histogramme compare le taux de mortalité de ce pays à celui des autres pays du même continent, avec une surbrillance qui attire l’attention.</a:t>
            </a:r>
          </a:p>
          <a:p>
            <a:r>
              <a:rPr lang="fr-FR" dirty="0"/>
              <a:t>On a également une courbe de l’évolution de la stabilité politique dans le pays, ce qui peut nous donner un éclairage sur les autres éléments.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144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vue s’inscrit dans le </a:t>
            </a:r>
            <a:r>
              <a:rPr lang="fr-FR" b="1" dirty="0"/>
              <a:t>domaine de création des services</a:t>
            </a:r>
            <a:r>
              <a:rPr lang="fr-FR" dirty="0"/>
              <a:t>, qui consiste à déployer de nouvelles infrastructures là où les populations n’ont pas encore accès à l’eau potable.</a:t>
            </a:r>
          </a:p>
          <a:p>
            <a:r>
              <a:rPr lang="fr-FR" dirty="0"/>
              <a:t>Le </a:t>
            </a:r>
            <a:r>
              <a:rPr lang="fr-FR" b="1" dirty="0" err="1"/>
              <a:t>scatter</a:t>
            </a:r>
            <a:r>
              <a:rPr lang="fr-FR" b="1" dirty="0"/>
              <a:t> plot</a:t>
            </a:r>
            <a:r>
              <a:rPr lang="fr-FR" dirty="0"/>
              <a:t> permet de visualiser la corrélation entre deux facteurs essentiels :</a:t>
            </a:r>
          </a:p>
          <a:p>
            <a:r>
              <a:rPr lang="fr-FR" b="1" dirty="0"/>
              <a:t>Le pourcentage de la population ayant accès à l’eau potable</a:t>
            </a:r>
            <a:r>
              <a:rPr lang="fr-FR" dirty="0"/>
              <a:t> (axe Y) ;</a:t>
            </a:r>
          </a:p>
          <a:p>
            <a:r>
              <a:rPr lang="fr-FR" b="1" dirty="0"/>
              <a:t>Le pourcentage de population urbaine</a:t>
            </a:r>
            <a:r>
              <a:rPr lang="fr-FR" dirty="0"/>
              <a:t> (axe X).</a:t>
            </a:r>
          </a:p>
          <a:p>
            <a:r>
              <a:rPr lang="fr-FR" dirty="0"/>
              <a:t>Cette visualisation aide à repérer les pays où :</a:t>
            </a:r>
          </a:p>
          <a:p>
            <a:r>
              <a:rPr lang="fr-FR" dirty="0"/>
              <a:t>l’accès à l’eau est faible ;</a:t>
            </a:r>
          </a:p>
          <a:p>
            <a:r>
              <a:rPr lang="fr-FR" dirty="0"/>
              <a:t>la population est majoritairement rurale.</a:t>
            </a:r>
          </a:p>
          <a:p>
            <a:r>
              <a:rPr lang="fr-FR" dirty="0"/>
              <a:t>Ces zones sont prioritaires pour la création de nouveaux services, car elles cumulent des freins d’accès et une dispersion de la population qui complexifie les déploiements.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888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vue répond aux besoins du </a:t>
            </a:r>
            <a:r>
              <a:rPr lang="fr-FR" b="1" dirty="0"/>
              <a:t>domaine de modernisation des services</a:t>
            </a:r>
            <a:r>
              <a:rPr lang="fr-FR" dirty="0"/>
              <a:t>.</a:t>
            </a:r>
          </a:p>
          <a:p>
            <a:r>
              <a:rPr lang="fr-FR" dirty="0"/>
              <a:t>L’idée ici est de détecter les pays où l’accès à l’eau existe déjà via des infrastructures </a:t>
            </a:r>
            <a:r>
              <a:rPr lang="fr-FR" b="1" dirty="0"/>
              <a:t>basiques</a:t>
            </a:r>
            <a:r>
              <a:rPr lang="fr-FR" dirty="0"/>
              <a:t>, mais où la part des services </a:t>
            </a:r>
            <a:r>
              <a:rPr lang="fr-FR" b="1" dirty="0"/>
              <a:t>sûrs et durables</a:t>
            </a:r>
            <a:r>
              <a:rPr lang="fr-FR" dirty="0"/>
              <a:t> reste faible.</a:t>
            </a:r>
          </a:p>
          <a:p>
            <a:r>
              <a:rPr lang="fr-FR" dirty="0"/>
              <a:t>Le </a:t>
            </a:r>
            <a:r>
              <a:rPr lang="fr-FR" b="1" dirty="0" err="1"/>
              <a:t>scatter</a:t>
            </a:r>
            <a:r>
              <a:rPr lang="fr-FR" b="1" dirty="0"/>
              <a:t> plot</a:t>
            </a:r>
            <a:r>
              <a:rPr lang="fr-FR" dirty="0"/>
              <a:t> oppose deux indicateurs :</a:t>
            </a:r>
          </a:p>
          <a:p>
            <a:r>
              <a:rPr lang="fr-FR" dirty="0"/>
              <a:t>Le </a:t>
            </a:r>
            <a:r>
              <a:rPr lang="fr-FR" b="1" dirty="0"/>
              <a:t>taux de services de base</a:t>
            </a:r>
            <a:r>
              <a:rPr lang="fr-FR" dirty="0"/>
              <a:t> (axe X) ;</a:t>
            </a:r>
          </a:p>
          <a:p>
            <a:r>
              <a:rPr lang="fr-FR" dirty="0"/>
              <a:t>Le </a:t>
            </a:r>
            <a:r>
              <a:rPr lang="fr-FR" b="1" dirty="0"/>
              <a:t>taux de services “</a:t>
            </a:r>
            <a:r>
              <a:rPr lang="fr-FR" b="1" dirty="0" err="1"/>
              <a:t>safely</a:t>
            </a:r>
            <a:r>
              <a:rPr lang="fr-FR" b="1" dirty="0"/>
              <a:t> </a:t>
            </a:r>
            <a:r>
              <a:rPr lang="fr-FR" b="1" dirty="0" err="1"/>
              <a:t>managed</a:t>
            </a:r>
            <a:r>
              <a:rPr lang="fr-FR" b="1" dirty="0"/>
              <a:t>”</a:t>
            </a:r>
            <a:r>
              <a:rPr lang="fr-FR" dirty="0"/>
              <a:t> (axe Y).</a:t>
            </a:r>
          </a:p>
          <a:p>
            <a:r>
              <a:rPr lang="fr-FR" dirty="0"/>
              <a:t>Les pays positionnés en bas à droite du graphique sont ceux qui ont déjà déployé des services basiques mais doivent améliorer leur qualité. Ils sont donc de bons candidats pour une intervention visant à moderniser les systèmes existants.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799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vue est dédiée au </a:t>
            </a:r>
            <a:r>
              <a:rPr lang="fr-FR" b="1" dirty="0"/>
              <a:t>domaine du consulting</a:t>
            </a:r>
            <a:r>
              <a:rPr lang="fr-FR" dirty="0"/>
              <a:t>, dont l’objectif est de conseiller les gouvernements.</a:t>
            </a:r>
          </a:p>
          <a:p>
            <a:r>
              <a:rPr lang="fr-FR" dirty="0"/>
              <a:t>Pour cela, deux facteurs clés sont indispensables :</a:t>
            </a:r>
          </a:p>
          <a:p>
            <a:r>
              <a:rPr lang="fr-FR" b="1" dirty="0"/>
              <a:t>Une situation politique stable</a:t>
            </a:r>
            <a:r>
              <a:rPr lang="fr-FR" dirty="0"/>
              <a:t>, qui permet un dialogue avec les institutions ;</a:t>
            </a:r>
          </a:p>
          <a:p>
            <a:r>
              <a:rPr lang="fr-FR" b="1" dirty="0"/>
              <a:t>Une marge de progression mesurable</a:t>
            </a:r>
            <a:r>
              <a:rPr lang="fr-FR" dirty="0"/>
              <a:t> dans la gestion de l’accès à l’eau (par exemple un taux de mortalité encore élevé malgré un certain niveau d’accès).</a:t>
            </a:r>
          </a:p>
          <a:p>
            <a:r>
              <a:rPr lang="fr-FR" dirty="0"/>
              <a:t>Le </a:t>
            </a:r>
            <a:r>
              <a:rPr lang="fr-FR" b="1" dirty="0" err="1"/>
              <a:t>scatter</a:t>
            </a:r>
            <a:r>
              <a:rPr lang="fr-FR" b="1" dirty="0"/>
              <a:t> plot</a:t>
            </a:r>
            <a:r>
              <a:rPr lang="fr-FR" dirty="0"/>
              <a:t> croise donc :</a:t>
            </a:r>
          </a:p>
          <a:p>
            <a:r>
              <a:rPr lang="fr-FR" dirty="0"/>
              <a:t>En abscisse, la </a:t>
            </a:r>
            <a:r>
              <a:rPr lang="fr-FR" b="1" dirty="0"/>
              <a:t>stabilité politique</a:t>
            </a:r>
            <a:r>
              <a:rPr lang="fr-FR" dirty="0"/>
              <a:t> ;</a:t>
            </a:r>
          </a:p>
          <a:p>
            <a:r>
              <a:rPr lang="fr-FR" dirty="0"/>
              <a:t>En ordonnée, un </a:t>
            </a:r>
            <a:r>
              <a:rPr lang="fr-FR" b="1" dirty="0"/>
              <a:t>score combiné</a:t>
            </a:r>
            <a:r>
              <a:rPr lang="fr-FR" dirty="0"/>
              <a:t> entre mortalité liée à l’eau et accès aux services.</a:t>
            </a:r>
          </a:p>
          <a:p>
            <a:r>
              <a:rPr lang="fr-FR" dirty="0"/>
              <a:t>Les pays </a:t>
            </a:r>
            <a:r>
              <a:rPr lang="fr-FR" b="1" dirty="0"/>
              <a:t>en haut à gauche</a:t>
            </a:r>
            <a:r>
              <a:rPr lang="fr-FR" dirty="0"/>
              <a:t> sont instables, donc peu accessibles. Ceux </a:t>
            </a:r>
            <a:r>
              <a:rPr lang="fr-FR" b="1" dirty="0"/>
              <a:t>en bas à droite</a:t>
            </a:r>
            <a:r>
              <a:rPr lang="fr-FR" dirty="0"/>
              <a:t> ont déjà atteint un bon niveau de performance.</a:t>
            </a:r>
          </a:p>
          <a:p>
            <a:r>
              <a:rPr lang="fr-FR" b="1" dirty="0"/>
              <a:t>Les pays au centre-droit du graphique représentent les cibles prioritaires</a:t>
            </a:r>
            <a:r>
              <a:rPr lang="fr-FR" dirty="0"/>
              <a:t> pour une mission de conseil : ils sont suffisamment stables et encore perfectibles sur le plan sanitaire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120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conclure, ce tableau de bord permet de répondre aux objectifs stratégiques fixés par DWFA.</a:t>
            </a:r>
            <a:br>
              <a:rPr lang="fr-FR" dirty="0"/>
            </a:br>
            <a:r>
              <a:rPr lang="fr-FR" dirty="0"/>
              <a:t>Les indicateurs clés sont présentés de façon claire, interactive et hiérarchisée : d’une vue mondiale synthétique jusqu’à une vue nationale détaillée.</a:t>
            </a:r>
            <a:br>
              <a:rPr lang="fr-FR" dirty="0"/>
            </a:br>
            <a:r>
              <a:rPr lang="fr-FR" dirty="0"/>
              <a:t>Chaque domaine d’expertise dispose d’un espace d’analyse propre, pour orienter les actions terrain.</a:t>
            </a:r>
            <a:br>
              <a:rPr lang="fr-FR" dirty="0"/>
            </a:br>
            <a:r>
              <a:rPr lang="fr-FR" dirty="0"/>
              <a:t>L’intégration des filtres, des courbes temporelles et des visualisations par carte facilite la prise de décision.</a:t>
            </a:r>
            <a:br>
              <a:rPr lang="fr-FR" dirty="0"/>
            </a:br>
            <a:r>
              <a:rPr lang="fr-FR" dirty="0"/>
              <a:t>Enfin, l’outil est conçu pour évoluer : de nouveaux indicateurs pourront y être intégrés à mesure que de nouvelles données seront disponibles.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FAA57-078C-439C-8931-DDC73B00071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138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2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91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1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4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8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3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7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95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9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image contenant peinture, barrière de corail, art&#10;&#10;Le contenu généré par l’IA peut être incorrect.">
            <a:extLst>
              <a:ext uri="{FF2B5EF4-FFF2-40B4-BE49-F238E27FC236}">
                <a16:creationId xmlns:a16="http://schemas.microsoft.com/office/drawing/2014/main" id="{5465C908-7BF2-02D8-5A9A-DD9EE587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1" t="9608" b="129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8B0D19-9008-6BBE-8192-B8BEF3547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fr-FR" sz="3800">
                <a:solidFill>
                  <a:srgbClr val="FFFFFF"/>
                </a:solidFill>
              </a:rPr>
              <a:t>Étude d’accès à l’eau potable – Projet DWFA</a:t>
            </a:r>
            <a:br>
              <a:rPr lang="fr-FR" sz="3800">
                <a:solidFill>
                  <a:srgbClr val="FFFFFF"/>
                </a:solidFill>
              </a:rPr>
            </a:br>
            <a:r>
              <a:rPr lang="fr-FR" sz="3800">
                <a:solidFill>
                  <a:srgbClr val="FFFFFF"/>
                </a:solidFill>
              </a:rPr>
              <a:t>Dashboard interactif pour l’ONG "Drinking Water For All"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99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9F34BF-0DB3-41A5-86E0-9F5416A62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fr-FR"/>
              <a:t>Préparation des données (Power Query)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4C5F00-1D16-28DC-8444-50F28BE5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41506"/>
            <a:ext cx="5684671" cy="3567131"/>
          </a:xfrm>
          <a:prstGeom prst="rect">
            <a:avLst/>
          </a:prstGeom>
        </p:spPr>
      </p:pic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FE51260C-4C99-0DCD-A059-17BD53246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100165"/>
              </p:ext>
            </p:extLst>
          </p:nvPr>
        </p:nvGraphicFramePr>
        <p:xfrm>
          <a:off x="6915149" y="2256304"/>
          <a:ext cx="5054243" cy="3760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165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393F73-E68C-118B-7A9F-6D844C0F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fr-FR" dirty="0"/>
              <a:t>Modélisation du modèle de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644B0E-E3BF-3CED-99B5-842BF63D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56287"/>
            <a:ext cx="5612626" cy="3760459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A1BF64E-29BD-A82D-4849-F0F2CF1EA4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Construction d’un modèle en étoile autour d’une table de faits centrale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Création de relations entre les tables (relations 1 → *)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Gestion du temps via le champ 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Year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intégré dans la table de faits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Jointure des données démographiques, politiques et sanitaires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Optimisation des relations pour limiter les duplications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81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280AB5-2700-2508-0110-5A5A8629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Blueprint du tableau de bord DWFA</a:t>
            </a:r>
            <a:br>
              <a:rPr lang="en-US" sz="4100"/>
            </a:br>
            <a:endParaRPr lang="en-US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85265AB-355C-1084-F00D-71DAA39A4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10168" y="663691"/>
            <a:ext cx="6516284" cy="51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7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060E8D-A77C-4F1E-909F-AD8F9839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fr-FR" dirty="0"/>
              <a:t>Vue mondiale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A656BAE5-5C2D-06E2-3D66-A3BE8DFCF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77" y="2343150"/>
            <a:ext cx="6691285" cy="4242585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D884B-6A3B-27BC-5480-CA18D5B7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fr-FR" dirty="0"/>
              <a:t>Permet de visualiser la mortalité liée à l’eau insalubre à l’échelle globale.</a:t>
            </a:r>
          </a:p>
          <a:p>
            <a:pPr>
              <a:lnSpc>
                <a:spcPct val="110000"/>
              </a:lnSpc>
            </a:pPr>
            <a:r>
              <a:rPr lang="fr-FR" dirty="0"/>
              <a:t>Carte choroplèthe interactive</a:t>
            </a:r>
          </a:p>
          <a:p>
            <a:pPr>
              <a:lnSpc>
                <a:spcPct val="110000"/>
              </a:lnSpc>
            </a:pPr>
            <a:r>
              <a:rPr lang="fr-FR" dirty="0"/>
              <a:t>Donnée observée : % de décès liés à l’eau insalubre (2016)</a:t>
            </a:r>
          </a:p>
          <a:p>
            <a:pPr>
              <a:lnSpc>
                <a:spcPct val="110000"/>
              </a:lnSpc>
            </a:pPr>
            <a:r>
              <a:rPr lang="fr-FR" dirty="0"/>
              <a:t>Permet d’identifier immédiatement les zones géographiques prioritaires</a:t>
            </a:r>
          </a:p>
          <a:p>
            <a:pPr>
              <a:lnSpc>
                <a:spcPct val="110000"/>
              </a:lnSpc>
            </a:pPr>
            <a:r>
              <a:rPr lang="fr-FR" dirty="0"/>
              <a:t>Filtrable par année</a:t>
            </a:r>
          </a:p>
        </p:txBody>
      </p:sp>
    </p:spTree>
    <p:extLst>
      <p:ext uri="{BB962C8B-B14F-4D97-AF65-F5344CB8AC3E}">
        <p14:creationId xmlns:p14="http://schemas.microsoft.com/office/powerpoint/2010/main" val="15085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DA47F0-F07E-2C9D-E0D5-C479DEBF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fr-FR" dirty="0"/>
              <a:t>Vue continentale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801AEF79-9A62-B16B-47FF-2FFBE65E0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99" y="2537460"/>
            <a:ext cx="6685261" cy="4079097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8CDD36-E275-4B8A-C50F-15634543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5126238" cy="3760459"/>
          </a:xfrm>
        </p:spPr>
        <p:txBody>
          <a:bodyPr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fr-FR" dirty="0"/>
              <a:t>Permet d’explorer les indicateurs d’accès à l’eau potable et de mortalité au </a:t>
            </a:r>
            <a:r>
              <a:rPr lang="fr-FR" b="1" dirty="0"/>
              <a:t>niveau d’un continent</a:t>
            </a:r>
            <a:r>
              <a:rPr lang="fr-FR" dirty="0"/>
              <a:t> sélectionné.</a:t>
            </a:r>
          </a:p>
          <a:p>
            <a:pPr>
              <a:lnSpc>
                <a:spcPct val="110000"/>
              </a:lnSpc>
            </a:pPr>
            <a:r>
              <a:rPr lang="fr-FR" dirty="0"/>
              <a:t>Ruban : évolution de la population par pays du continent</a:t>
            </a:r>
          </a:p>
          <a:p>
            <a:pPr>
              <a:lnSpc>
                <a:spcPct val="110000"/>
              </a:lnSpc>
            </a:pPr>
            <a:r>
              <a:rPr lang="fr-FR" dirty="0"/>
              <a:t>Histogramme : comparaison du % de décès liés à l’eau insalubre (2016) par pays</a:t>
            </a:r>
          </a:p>
          <a:p>
            <a:pPr>
              <a:lnSpc>
                <a:spcPct val="110000"/>
              </a:lnSpc>
            </a:pPr>
            <a:r>
              <a:rPr lang="fr-FR" dirty="0"/>
              <a:t>Vignettes : mortalité, population, accès à l’eau potable</a:t>
            </a:r>
          </a:p>
          <a:p>
            <a:pPr>
              <a:lnSpc>
                <a:spcPct val="110000"/>
              </a:lnSpc>
            </a:pPr>
            <a:r>
              <a:rPr lang="fr-FR" dirty="0"/>
              <a:t>📌 Mise en évidence des disparités </a:t>
            </a:r>
            <a:r>
              <a:rPr lang="fr-FR" dirty="0" err="1"/>
              <a:t>intra-continentales</a:t>
            </a:r>
            <a:r>
              <a:rPr lang="fr-FR" dirty="0"/>
              <a:t> pour affiner le ciblage des actions.</a:t>
            </a:r>
          </a:p>
          <a:p>
            <a:pPr>
              <a:lnSpc>
                <a:spcPct val="110000"/>
              </a:lnSpc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17590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6E18E8-65E5-0C52-0D6B-B304F15B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fr-FR" dirty="0"/>
              <a:t>Vue nationale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1953B6-9C8D-891C-65D6-24748C75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40902"/>
            <a:ext cx="5648193" cy="319122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3B1DE7-0E00-1CB0-BE6E-7F6044C9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700"/>
              <a:t>Fournit une </a:t>
            </a:r>
            <a:r>
              <a:rPr lang="fr-FR" sz="1700" b="1"/>
              <a:t>analyse détaillée d’un pays</a:t>
            </a:r>
            <a:r>
              <a:rPr lang="fr-FR" sz="1700"/>
              <a:t> sélectionné, avec des indicateurs précis et comparatifs.</a:t>
            </a:r>
          </a:p>
          <a:p>
            <a:pPr>
              <a:lnSpc>
                <a:spcPct val="110000"/>
              </a:lnSpc>
            </a:pPr>
            <a:r>
              <a:rPr lang="fr-FR" sz="1700"/>
              <a:t>Vignettes : mortalité, population, accès à l’eau et stabilité politique</a:t>
            </a:r>
          </a:p>
          <a:p>
            <a:pPr>
              <a:lnSpc>
                <a:spcPct val="110000"/>
              </a:lnSpc>
            </a:pPr>
            <a:r>
              <a:rPr lang="fr-FR" sz="1700"/>
              <a:t>Histogramme comparatif : % de décès liés à l’eau vs autres pays, en commençant par les 10 pays les plus touchés</a:t>
            </a:r>
          </a:p>
          <a:p>
            <a:pPr>
              <a:lnSpc>
                <a:spcPct val="110000"/>
              </a:lnSpc>
            </a:pPr>
            <a:r>
              <a:rPr lang="fr-FR" sz="1700"/>
              <a:t>🎯 C’est une vue </a:t>
            </a:r>
            <a:r>
              <a:rPr lang="fr-FR" sz="1700" b="1"/>
              <a:t>opérationnelle</a:t>
            </a:r>
            <a:r>
              <a:rPr lang="fr-FR" sz="1700"/>
              <a:t>, pensée pour identifier les priorités par pays.</a:t>
            </a:r>
          </a:p>
          <a:p>
            <a:pPr>
              <a:lnSpc>
                <a:spcPct val="110000"/>
              </a:lnSpc>
            </a:pPr>
            <a:endParaRPr lang="fr-FR" sz="1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5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36DE5A-2BE2-76C4-53F8-121CA7A7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fr-FR" dirty="0"/>
              <a:t>💧 Domaine de création des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0DDAB145-C642-78E5-7865-C134E14C4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822075"/>
            <a:ext cx="5648193" cy="319122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64C3F0-7AFA-DCE6-3B40-6805AD5AE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fr-FR" dirty="0"/>
              <a:t>Ce graphique met en évidence la relation entre le taux d'accès à l'eau potable et le taux de population urbaine.</a:t>
            </a:r>
            <a:br>
              <a:rPr lang="fr-FR" dirty="0"/>
            </a:br>
            <a:r>
              <a:rPr lang="fr-FR" dirty="0"/>
              <a:t>L’objectif est d’identifier les pays où la population est majoritairement rurale et mal desservie, afin de cibler les efforts d’infrastructure.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9434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C20F2A-A37A-9078-F8C3-8D6F9D5A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fr-FR" dirty="0"/>
              <a:t>🔧 Domaine de modernisation des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EB0FCD59-CAB7-FF08-9E94-0DEA1F23A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9485"/>
            <a:ext cx="6904731" cy="420625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1C93B-1928-6C02-6E44-4583C1330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fr-FR" dirty="0"/>
              <a:t>Ce graphique permet de comparer la qualité des services d’accès à l’eau :</a:t>
            </a:r>
          </a:p>
          <a:p>
            <a:r>
              <a:rPr lang="fr-FR" dirty="0"/>
              <a:t>Services de base</a:t>
            </a:r>
          </a:p>
          <a:p>
            <a:r>
              <a:rPr lang="fr-FR" dirty="0"/>
              <a:t>Services gérés en toute sécurité ("</a:t>
            </a:r>
            <a:r>
              <a:rPr lang="fr-FR" dirty="0" err="1"/>
              <a:t>safely</a:t>
            </a:r>
            <a:r>
              <a:rPr lang="fr-FR" dirty="0"/>
              <a:t> </a:t>
            </a:r>
            <a:r>
              <a:rPr lang="fr-FR" dirty="0" err="1"/>
              <a:t>managed</a:t>
            </a:r>
            <a:r>
              <a:rPr lang="fr-FR" dirty="0"/>
              <a:t>")</a:t>
            </a:r>
          </a:p>
          <a:p>
            <a:r>
              <a:rPr lang="fr-FR" dirty="0"/>
              <a:t>L’objectif est d’identifier les pays où les infrastructures existent mais nécessitent une modernisation.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896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79C6DB-30C0-4D8D-820C-20747585A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fr-FR" dirty="0"/>
              <a:t>🧠 Domaine de consulting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A30C3370-7473-01B9-14A3-E6502F76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2601"/>
            <a:ext cx="6925009" cy="425505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575A2-9B94-ACFC-F9D8-F442B995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fr-FR" dirty="0"/>
              <a:t>Ce graphique croise deux dimensions essentielles :</a:t>
            </a:r>
            <a:endParaRPr lang="fr-FR"/>
          </a:p>
          <a:p>
            <a:pPr>
              <a:lnSpc>
                <a:spcPct val="110000"/>
              </a:lnSpc>
            </a:pPr>
            <a:r>
              <a:rPr lang="fr-FR" dirty="0"/>
              <a:t>La stabilité politique</a:t>
            </a:r>
            <a:endParaRPr lang="fr-FR"/>
          </a:p>
          <a:p>
            <a:pPr>
              <a:lnSpc>
                <a:spcPct val="110000"/>
              </a:lnSpc>
            </a:pPr>
            <a:r>
              <a:rPr lang="fr-FR" dirty="0"/>
              <a:t>L’efficacité de la politique d’accès à l’eau (faible mortalité et bon accès)</a:t>
            </a:r>
            <a:endParaRPr lang="fr-FR"/>
          </a:p>
          <a:p>
            <a:pPr>
              <a:lnSpc>
                <a:spcPct val="110000"/>
              </a:lnSpc>
            </a:pPr>
            <a:r>
              <a:rPr lang="fr-FR" dirty="0"/>
              <a:t>Il permet d’identifier les pays dans lesquels un accompagnement stratégique serait pertinent et réalisable.</a:t>
            </a:r>
            <a:endParaRPr lang="fr-FR"/>
          </a:p>
          <a:p>
            <a:pPr>
              <a:lnSpc>
                <a:spcPct val="110000"/>
              </a:lnSpc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4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CB531E-3179-DDFB-27CD-18B3EC1F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fr-FR" sz="3400"/>
              <a:t>Conclusion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9A51BF2-5EB1-C8A5-C65A-2C4FF1779D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913068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569049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1877</Words>
  <Application>Microsoft Office PowerPoint</Application>
  <PresentationFormat>Grand écran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Arial</vt:lpstr>
      <vt:lpstr>Grandview Display</vt:lpstr>
      <vt:lpstr>DashVTI</vt:lpstr>
      <vt:lpstr>Étude d’accès à l’eau potable – Projet DWFA Dashboard interactif pour l’ONG "Drinking Water For All"</vt:lpstr>
      <vt:lpstr>Préparation des données (Power Query)</vt:lpstr>
      <vt:lpstr>Modélisation du modèle de données</vt:lpstr>
      <vt:lpstr>Blueprint du tableau de bord DWFA </vt:lpstr>
      <vt:lpstr>Vue mondiale</vt:lpstr>
      <vt:lpstr>Vue continentale</vt:lpstr>
      <vt:lpstr>Vue nationale</vt:lpstr>
      <vt:lpstr>💧 Domaine de création des services</vt:lpstr>
      <vt:lpstr>🔧 Domaine de modernisation des services</vt:lpstr>
      <vt:lpstr>🧠 Domaine de consulting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DA50769</dc:creator>
  <cp:lastModifiedBy>DA50769</cp:lastModifiedBy>
  <cp:revision>5</cp:revision>
  <dcterms:created xsi:type="dcterms:W3CDTF">2025-08-08T09:05:17Z</dcterms:created>
  <dcterms:modified xsi:type="dcterms:W3CDTF">2025-08-13T12:46:28Z</dcterms:modified>
</cp:coreProperties>
</file>